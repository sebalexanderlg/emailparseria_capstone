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X0hhPBRw61RMHoRRy5IjkBMF1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5398" r="-8794" t="-25882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0" y="-72330"/>
            <a:ext cx="12071988" cy="10359330"/>
            <a:chOff x="0" y="-19050"/>
            <a:chExt cx="3179454" cy="2728383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179454" cy="2709333"/>
            </a:xfrm>
            <a:custGeom>
              <a:rect b="b" l="l" r="r" t="t"/>
              <a:pathLst>
                <a:path extrusionOk="0" h="2709333" w="3179454">
                  <a:moveTo>
                    <a:pt x="0" y="0"/>
                  </a:moveTo>
                  <a:lnTo>
                    <a:pt x="3179454" y="0"/>
                  </a:lnTo>
                  <a:lnTo>
                    <a:pt x="3179454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33333">
                  <a:srgbClr val="000000"/>
                </a:gs>
                <a:gs pos="66667">
                  <a:srgbClr val="000000">
                    <a:alpha val="8235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19050"/>
              <a:ext cx="317945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4306077" y="7364991"/>
            <a:ext cx="5290838" cy="918789"/>
            <a:chOff x="0" y="-38100"/>
            <a:chExt cx="2559647" cy="4445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559647" cy="406400"/>
            </a:xfrm>
            <a:custGeom>
              <a:rect b="b" l="l" r="r" t="t"/>
              <a:pathLst>
                <a:path extrusionOk="0" h="406400" w="2559647">
                  <a:moveTo>
                    <a:pt x="2356447" y="0"/>
                  </a:moveTo>
                  <a:cubicBezTo>
                    <a:pt x="2468671" y="0"/>
                    <a:pt x="2559647" y="90976"/>
                    <a:pt x="2559647" y="203200"/>
                  </a:cubicBezTo>
                  <a:cubicBezTo>
                    <a:pt x="2559647" y="315424"/>
                    <a:pt x="2468671" y="406400"/>
                    <a:pt x="2356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2559647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437596" y="7364991"/>
            <a:ext cx="3483091" cy="918789"/>
            <a:chOff x="0" y="-38100"/>
            <a:chExt cx="1685080" cy="44450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685080" cy="406400"/>
            </a:xfrm>
            <a:custGeom>
              <a:rect b="b" l="l" r="r" t="t"/>
              <a:pathLst>
                <a:path extrusionOk="0" h="406400" w="1685080">
                  <a:moveTo>
                    <a:pt x="1481880" y="0"/>
                  </a:moveTo>
                  <a:cubicBezTo>
                    <a:pt x="1594104" y="0"/>
                    <a:pt x="1685080" y="90976"/>
                    <a:pt x="1685080" y="203200"/>
                  </a:cubicBezTo>
                  <a:cubicBezTo>
                    <a:pt x="1685080" y="315424"/>
                    <a:pt x="1594104" y="406400"/>
                    <a:pt x="14818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38100"/>
              <a:ext cx="16850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4759952" y="7835633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720422" y="7177785"/>
            <a:ext cx="3039530" cy="531918"/>
          </a:xfrm>
          <a:custGeom>
            <a:rect b="b" l="l" r="r" t="t"/>
            <a:pathLst>
              <a:path extrusionOk="0" h="531918" w="3039530">
                <a:moveTo>
                  <a:pt x="0" y="0"/>
                </a:moveTo>
                <a:lnTo>
                  <a:pt x="3039530" y="0"/>
                </a:lnTo>
                <a:lnTo>
                  <a:pt x="3039530" y="531917"/>
                </a:lnTo>
                <a:lnTo>
                  <a:pt x="0" y="531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1028700" y="2032675"/>
            <a:ext cx="8994395" cy="4215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25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Email Parser con Inteligencia Artificial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519332" y="7628828"/>
            <a:ext cx="3324699" cy="441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Presentado por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855742" y="7628828"/>
            <a:ext cx="2790873" cy="441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Sebastián Lara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-1007830" y="8587931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6574661" y="-2875072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12474422" y="4084647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10875720" y="2261248"/>
            <a:ext cx="5787173" cy="4969108"/>
          </a:xfrm>
          <a:custGeom>
            <a:rect b="b" l="l" r="r" t="t"/>
            <a:pathLst>
              <a:path extrusionOk="0" h="769845" w="896585">
                <a:moveTo>
                  <a:pt x="74915" y="0"/>
                </a:moveTo>
                <a:lnTo>
                  <a:pt x="821669" y="0"/>
                </a:lnTo>
                <a:cubicBezTo>
                  <a:pt x="841538" y="0"/>
                  <a:pt x="860593" y="7893"/>
                  <a:pt x="874642" y="21942"/>
                </a:cubicBezTo>
                <a:cubicBezTo>
                  <a:pt x="888692" y="35992"/>
                  <a:pt x="896585" y="55046"/>
                  <a:pt x="896585" y="74915"/>
                </a:cubicBezTo>
                <a:lnTo>
                  <a:pt x="896585" y="694930"/>
                </a:lnTo>
                <a:cubicBezTo>
                  <a:pt x="896585" y="736304"/>
                  <a:pt x="863044" y="769845"/>
                  <a:pt x="821669" y="769845"/>
                </a:cubicBezTo>
                <a:lnTo>
                  <a:pt x="74915" y="769845"/>
                </a:lnTo>
                <a:cubicBezTo>
                  <a:pt x="33541" y="769845"/>
                  <a:pt x="0" y="736304"/>
                  <a:pt x="0" y="694930"/>
                </a:cubicBezTo>
                <a:lnTo>
                  <a:pt x="0" y="74915"/>
                </a:lnTo>
                <a:cubicBezTo>
                  <a:pt x="0" y="33541"/>
                  <a:pt x="33541" y="0"/>
                  <a:pt x="74915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6119" r="-611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169392" y="2342226"/>
            <a:ext cx="4863514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Introducción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38030" y="3455252"/>
            <a:ext cx="8126240" cy="258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Medio de contacto principal con docentes a traves de AVA o correo Gmail.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 una sobrecarga en la bandeja de entrada, lo que implica retrasos en la atención a los estudiantes y aumente la carga administrativa del academico, quitando tiempo para lo realmente importa, que es la docencia.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6185342" y="2606026"/>
            <a:ext cx="5917315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Objetivo principal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494606" y="4178300"/>
            <a:ext cx="7298788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 un sistema basado en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Inteligencia Artificial</a:t>
            </a: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que procese correos electrónicos, extraiga información relevante y la muestre en un panel visual.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25" name="Google Shape;125;p4"/>
          <p:cNvSpPr txBox="1"/>
          <p:nvPr/>
        </p:nvSpPr>
        <p:spPr>
          <a:xfrm>
            <a:off x="5290595" y="1955006"/>
            <a:ext cx="8225114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Arquitectura del sistema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6004460" y="3479324"/>
            <a:ext cx="6797384" cy="761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Backend (FastAPI):</a:t>
            </a: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Recibe y procesa correos con gmail API y Pub/Sub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4306077" y="4463159"/>
            <a:ext cx="10145447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 Ollama</a:t>
            </a: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Analiza el texto de los correos y extrae información clave.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4440011" y="5325023"/>
            <a:ext cx="9640079" cy="114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 de datos PostgreSQL y librerias Alembic:</a:t>
            </a: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Almacenara los correos y los resultados de la IA, gestionando migraciones con Alembic.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861359" y="6791594"/>
            <a:ext cx="6797384" cy="761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Frontend (React):</a:t>
            </a: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Interfaz para visualizar correos y resultados de 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4240441" y="2401323"/>
            <a:ext cx="9807117" cy="6717875"/>
          </a:xfrm>
          <a:custGeom>
            <a:rect b="b" l="l" r="r" t="t"/>
            <a:pathLst>
              <a:path extrusionOk="0" h="6717875" w="9807117">
                <a:moveTo>
                  <a:pt x="0" y="0"/>
                </a:moveTo>
                <a:lnTo>
                  <a:pt x="9807118" y="0"/>
                </a:lnTo>
                <a:lnTo>
                  <a:pt x="9807118" y="6717876"/>
                </a:lnTo>
                <a:lnTo>
                  <a:pt x="0" y="6717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3953862" y="713619"/>
            <a:ext cx="11823346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Diseño preliminar del sistema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7293535" y="1687032"/>
            <a:ext cx="3700929" cy="51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Ventana de inicio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6"/>
          <p:cNvSpPr/>
          <p:nvPr/>
        </p:nvSpPr>
        <p:spPr>
          <a:xfrm>
            <a:off x="3535357" y="2401323"/>
            <a:ext cx="11217286" cy="7165041"/>
          </a:xfrm>
          <a:custGeom>
            <a:rect b="b" l="l" r="r" t="t"/>
            <a:pathLst>
              <a:path extrusionOk="0" h="7165041" w="11217286">
                <a:moveTo>
                  <a:pt x="0" y="0"/>
                </a:moveTo>
                <a:lnTo>
                  <a:pt x="11217286" y="0"/>
                </a:lnTo>
                <a:lnTo>
                  <a:pt x="11217286" y="7165042"/>
                </a:lnTo>
                <a:lnTo>
                  <a:pt x="0" y="7165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3953862" y="713619"/>
            <a:ext cx="11823346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Diseño preliminar del sistema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293535" y="1687032"/>
            <a:ext cx="3700929" cy="51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Ventana principal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7"/>
          <p:cNvSpPr/>
          <p:nvPr/>
        </p:nvSpPr>
        <p:spPr>
          <a:xfrm>
            <a:off x="5189784" y="2437075"/>
            <a:ext cx="8332468" cy="7311741"/>
          </a:xfrm>
          <a:custGeom>
            <a:rect b="b" l="l" r="r" t="t"/>
            <a:pathLst>
              <a:path extrusionOk="0" h="7311741" w="8332468">
                <a:moveTo>
                  <a:pt x="0" y="0"/>
                </a:moveTo>
                <a:lnTo>
                  <a:pt x="8332468" y="0"/>
                </a:lnTo>
                <a:lnTo>
                  <a:pt x="8332468" y="7311741"/>
                </a:lnTo>
                <a:lnTo>
                  <a:pt x="0" y="7311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 txBox="1"/>
          <p:nvPr/>
        </p:nvSpPr>
        <p:spPr>
          <a:xfrm>
            <a:off x="4612557" y="734234"/>
            <a:ext cx="9947356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Diseño preliminar del sistema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5189784" y="1769493"/>
            <a:ext cx="8792901" cy="51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Visualización de mensaje y respuesta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67" name="Google Shape;167;p8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8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8"/>
          <p:cNvSpPr/>
          <p:nvPr/>
        </p:nvSpPr>
        <p:spPr>
          <a:xfrm>
            <a:off x="4731717" y="2201298"/>
            <a:ext cx="8824565" cy="7611453"/>
          </a:xfrm>
          <a:custGeom>
            <a:rect b="b" l="l" r="r" t="t"/>
            <a:pathLst>
              <a:path extrusionOk="0" h="7611453" w="8824565">
                <a:moveTo>
                  <a:pt x="0" y="0"/>
                </a:moveTo>
                <a:lnTo>
                  <a:pt x="8824566" y="0"/>
                </a:lnTo>
                <a:lnTo>
                  <a:pt x="8824566" y="7611453"/>
                </a:lnTo>
                <a:lnTo>
                  <a:pt x="0" y="7611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48" l="0" r="0" t="-329"/>
            </a:stretch>
          </a:blipFill>
          <a:ln>
            <a:noFill/>
          </a:ln>
        </p:spPr>
      </p:sp>
      <p:sp>
        <p:nvSpPr>
          <p:cNvPr id="170" name="Google Shape;170;p8"/>
          <p:cNvSpPr txBox="1"/>
          <p:nvPr/>
        </p:nvSpPr>
        <p:spPr>
          <a:xfrm>
            <a:off x="3953862" y="713619"/>
            <a:ext cx="11823346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Diseño preliminar del sistema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6453463" y="1486610"/>
            <a:ext cx="5381074" cy="51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Respuesta sugerida de 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grpSp>
        <p:nvGrpSpPr>
          <p:cNvPr id="177" name="Google Shape;177;p9"/>
          <p:cNvGrpSpPr/>
          <p:nvPr/>
        </p:nvGrpSpPr>
        <p:grpSpPr>
          <a:xfrm>
            <a:off x="1134734" y="4318815"/>
            <a:ext cx="7793643" cy="676823"/>
            <a:chOff x="0" y="-38100"/>
            <a:chExt cx="4980849" cy="432552"/>
          </a:xfrm>
        </p:grpSpPr>
        <p:sp>
          <p:nvSpPr>
            <p:cNvPr id="178" name="Google Shape;178;p9"/>
            <p:cNvSpPr/>
            <p:nvPr/>
          </p:nvSpPr>
          <p:spPr>
            <a:xfrm>
              <a:off x="0" y="0"/>
              <a:ext cx="4980849" cy="394452"/>
            </a:xfrm>
            <a:custGeom>
              <a:rect b="b" l="l" r="r" t="t"/>
              <a:pathLst>
                <a:path extrusionOk="0" h="394452" w="4980849">
                  <a:moveTo>
                    <a:pt x="4777649" y="0"/>
                  </a:moveTo>
                  <a:cubicBezTo>
                    <a:pt x="4889873" y="0"/>
                    <a:pt x="4980849" y="88301"/>
                    <a:pt x="4980849" y="197226"/>
                  </a:cubicBezTo>
                  <a:cubicBezTo>
                    <a:pt x="4980849" y="306151"/>
                    <a:pt x="4889873" y="394452"/>
                    <a:pt x="4777649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0" y="-38100"/>
              <a:ext cx="4980849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9"/>
          <p:cNvSpPr/>
          <p:nvPr/>
        </p:nvSpPr>
        <p:spPr>
          <a:xfrm>
            <a:off x="6574661" y="-2875072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9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9"/>
          <p:cNvSpPr txBox="1"/>
          <p:nvPr/>
        </p:nvSpPr>
        <p:spPr>
          <a:xfrm>
            <a:off x="6478796" y="2518741"/>
            <a:ext cx="5074854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Plan de trabajo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564831" y="3990352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1564831" y="4498013"/>
            <a:ext cx="7090490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1: Conexión con Gmail API y Pub/Sub</a:t>
            </a:r>
            <a:endParaRPr/>
          </a:p>
        </p:txBody>
      </p:sp>
      <p:grpSp>
        <p:nvGrpSpPr>
          <p:cNvPr id="185" name="Google Shape;185;p9"/>
          <p:cNvGrpSpPr/>
          <p:nvPr/>
        </p:nvGrpSpPr>
        <p:grpSpPr>
          <a:xfrm>
            <a:off x="1134734" y="5471962"/>
            <a:ext cx="7793643" cy="676823"/>
            <a:chOff x="0" y="-38100"/>
            <a:chExt cx="4980849" cy="432552"/>
          </a:xfrm>
        </p:grpSpPr>
        <p:sp>
          <p:nvSpPr>
            <p:cNvPr id="186" name="Google Shape;186;p9"/>
            <p:cNvSpPr/>
            <p:nvPr/>
          </p:nvSpPr>
          <p:spPr>
            <a:xfrm>
              <a:off x="0" y="0"/>
              <a:ext cx="4980849" cy="394452"/>
            </a:xfrm>
            <a:custGeom>
              <a:rect b="b" l="l" r="r" t="t"/>
              <a:pathLst>
                <a:path extrusionOk="0" h="394452" w="4980849">
                  <a:moveTo>
                    <a:pt x="4777649" y="0"/>
                  </a:moveTo>
                  <a:cubicBezTo>
                    <a:pt x="4889873" y="0"/>
                    <a:pt x="4980849" y="88301"/>
                    <a:pt x="4980849" y="197226"/>
                  </a:cubicBezTo>
                  <a:cubicBezTo>
                    <a:pt x="4980849" y="306151"/>
                    <a:pt x="4889873" y="394452"/>
                    <a:pt x="4777649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0" y="-38100"/>
              <a:ext cx="4980849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9"/>
          <p:cNvSpPr/>
          <p:nvPr/>
        </p:nvSpPr>
        <p:spPr>
          <a:xfrm>
            <a:off x="1564831" y="5143500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9"/>
          <p:cNvSpPr txBox="1"/>
          <p:nvPr/>
        </p:nvSpPr>
        <p:spPr>
          <a:xfrm>
            <a:off x="1564831" y="5651161"/>
            <a:ext cx="7090490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2-3: Integración con IA (Ollama)</a:t>
            </a: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>
            <a:off x="1028700" y="6684603"/>
            <a:ext cx="8115300" cy="676823"/>
            <a:chOff x="0" y="-38100"/>
            <a:chExt cx="5186417" cy="432552"/>
          </a:xfrm>
        </p:grpSpPr>
        <p:sp>
          <p:nvSpPr>
            <p:cNvPr id="191" name="Google Shape;191;p9"/>
            <p:cNvSpPr/>
            <p:nvPr/>
          </p:nvSpPr>
          <p:spPr>
            <a:xfrm>
              <a:off x="0" y="0"/>
              <a:ext cx="5186416" cy="394452"/>
            </a:xfrm>
            <a:custGeom>
              <a:rect b="b" l="l" r="r" t="t"/>
              <a:pathLst>
                <a:path extrusionOk="0" h="394452" w="5186416">
                  <a:moveTo>
                    <a:pt x="4983216" y="0"/>
                  </a:moveTo>
                  <a:cubicBezTo>
                    <a:pt x="5095441" y="0"/>
                    <a:pt x="5186416" y="88301"/>
                    <a:pt x="5186416" y="197226"/>
                  </a:cubicBezTo>
                  <a:cubicBezTo>
                    <a:pt x="5186416" y="306151"/>
                    <a:pt x="5095441" y="394452"/>
                    <a:pt x="4983216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0" y="-38100"/>
              <a:ext cx="5186417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9"/>
          <p:cNvSpPr/>
          <p:nvPr/>
        </p:nvSpPr>
        <p:spPr>
          <a:xfrm>
            <a:off x="1458797" y="6356141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3" y="0"/>
                </a:lnTo>
                <a:lnTo>
                  <a:pt x="4836963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9"/>
          <p:cNvSpPr txBox="1"/>
          <p:nvPr/>
        </p:nvSpPr>
        <p:spPr>
          <a:xfrm>
            <a:off x="1340688" y="6848438"/>
            <a:ext cx="8004059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4-5: Crear e implementar modelo de datos</a:t>
            </a:r>
            <a:endParaRPr/>
          </a:p>
        </p:txBody>
      </p:sp>
      <p:grpSp>
        <p:nvGrpSpPr>
          <p:cNvPr id="195" name="Google Shape;195;p9"/>
          <p:cNvGrpSpPr/>
          <p:nvPr/>
        </p:nvGrpSpPr>
        <p:grpSpPr>
          <a:xfrm>
            <a:off x="9344747" y="4318815"/>
            <a:ext cx="8115300" cy="676823"/>
            <a:chOff x="0" y="-38100"/>
            <a:chExt cx="5186417" cy="432552"/>
          </a:xfrm>
        </p:grpSpPr>
        <p:sp>
          <p:nvSpPr>
            <p:cNvPr id="196" name="Google Shape;196;p9"/>
            <p:cNvSpPr/>
            <p:nvPr/>
          </p:nvSpPr>
          <p:spPr>
            <a:xfrm>
              <a:off x="0" y="0"/>
              <a:ext cx="5186416" cy="394452"/>
            </a:xfrm>
            <a:custGeom>
              <a:rect b="b" l="l" r="r" t="t"/>
              <a:pathLst>
                <a:path extrusionOk="0" h="394452" w="5186416">
                  <a:moveTo>
                    <a:pt x="4983216" y="0"/>
                  </a:moveTo>
                  <a:cubicBezTo>
                    <a:pt x="5095441" y="0"/>
                    <a:pt x="5186416" y="88301"/>
                    <a:pt x="5186416" y="197226"/>
                  </a:cubicBezTo>
                  <a:cubicBezTo>
                    <a:pt x="5186416" y="306151"/>
                    <a:pt x="5095441" y="394452"/>
                    <a:pt x="4983216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 txBox="1"/>
            <p:nvPr/>
          </p:nvSpPr>
          <p:spPr>
            <a:xfrm>
              <a:off x="0" y="-38100"/>
              <a:ext cx="5186417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9"/>
          <p:cNvSpPr/>
          <p:nvPr/>
        </p:nvSpPr>
        <p:spPr>
          <a:xfrm>
            <a:off x="9774845" y="3990352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9"/>
          <p:cNvSpPr txBox="1"/>
          <p:nvPr/>
        </p:nvSpPr>
        <p:spPr>
          <a:xfrm>
            <a:off x="9656735" y="4482649"/>
            <a:ext cx="7538776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6-7: Desarrollo del Frontend con React</a:t>
            </a:r>
            <a:endParaRPr/>
          </a:p>
        </p:txBody>
      </p:sp>
      <p:grpSp>
        <p:nvGrpSpPr>
          <p:cNvPr id="200" name="Google Shape;200;p9"/>
          <p:cNvGrpSpPr/>
          <p:nvPr/>
        </p:nvGrpSpPr>
        <p:grpSpPr>
          <a:xfrm>
            <a:off x="9344747" y="5471962"/>
            <a:ext cx="8115300" cy="676823"/>
            <a:chOff x="0" y="-38100"/>
            <a:chExt cx="5186417" cy="432552"/>
          </a:xfrm>
        </p:grpSpPr>
        <p:sp>
          <p:nvSpPr>
            <p:cNvPr id="201" name="Google Shape;201;p9"/>
            <p:cNvSpPr/>
            <p:nvPr/>
          </p:nvSpPr>
          <p:spPr>
            <a:xfrm>
              <a:off x="0" y="0"/>
              <a:ext cx="5186416" cy="394452"/>
            </a:xfrm>
            <a:custGeom>
              <a:rect b="b" l="l" r="r" t="t"/>
              <a:pathLst>
                <a:path extrusionOk="0" h="394452" w="5186416">
                  <a:moveTo>
                    <a:pt x="4983216" y="0"/>
                  </a:moveTo>
                  <a:cubicBezTo>
                    <a:pt x="5095441" y="0"/>
                    <a:pt x="5186416" y="88301"/>
                    <a:pt x="5186416" y="197226"/>
                  </a:cubicBezTo>
                  <a:cubicBezTo>
                    <a:pt x="5186416" y="306151"/>
                    <a:pt x="5095441" y="394452"/>
                    <a:pt x="4983216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 txBox="1"/>
            <p:nvPr/>
          </p:nvSpPr>
          <p:spPr>
            <a:xfrm>
              <a:off x="0" y="-38100"/>
              <a:ext cx="5186417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9"/>
          <p:cNvSpPr/>
          <p:nvPr/>
        </p:nvSpPr>
        <p:spPr>
          <a:xfrm>
            <a:off x="9774845" y="5143500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9"/>
          <p:cNvSpPr txBox="1"/>
          <p:nvPr/>
        </p:nvSpPr>
        <p:spPr>
          <a:xfrm>
            <a:off x="9656735" y="5635797"/>
            <a:ext cx="7538776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8-10: Integración y pruebas</a:t>
            </a:r>
            <a:endParaRPr/>
          </a:p>
        </p:txBody>
      </p:sp>
      <p:grpSp>
        <p:nvGrpSpPr>
          <p:cNvPr id="205" name="Google Shape;205;p9"/>
          <p:cNvGrpSpPr/>
          <p:nvPr/>
        </p:nvGrpSpPr>
        <p:grpSpPr>
          <a:xfrm>
            <a:off x="9344747" y="6684603"/>
            <a:ext cx="8115300" cy="676823"/>
            <a:chOff x="0" y="-38100"/>
            <a:chExt cx="5186417" cy="432552"/>
          </a:xfrm>
        </p:grpSpPr>
        <p:sp>
          <p:nvSpPr>
            <p:cNvPr id="206" name="Google Shape;206;p9"/>
            <p:cNvSpPr/>
            <p:nvPr/>
          </p:nvSpPr>
          <p:spPr>
            <a:xfrm>
              <a:off x="0" y="0"/>
              <a:ext cx="5186416" cy="394452"/>
            </a:xfrm>
            <a:custGeom>
              <a:rect b="b" l="l" r="r" t="t"/>
              <a:pathLst>
                <a:path extrusionOk="0" h="394452" w="5186416">
                  <a:moveTo>
                    <a:pt x="4983216" y="0"/>
                  </a:moveTo>
                  <a:cubicBezTo>
                    <a:pt x="5095441" y="0"/>
                    <a:pt x="5186416" y="88301"/>
                    <a:pt x="5186416" y="197226"/>
                  </a:cubicBezTo>
                  <a:cubicBezTo>
                    <a:pt x="5186416" y="306151"/>
                    <a:pt x="5095441" y="394452"/>
                    <a:pt x="4983216" y="394452"/>
                  </a:cubicBezTo>
                  <a:lnTo>
                    <a:pt x="203200" y="394452"/>
                  </a:lnTo>
                  <a:cubicBezTo>
                    <a:pt x="90976" y="394452"/>
                    <a:pt x="0" y="306151"/>
                    <a:pt x="0" y="197226"/>
                  </a:cubicBezTo>
                  <a:cubicBezTo>
                    <a:pt x="0" y="8830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0" y="-38100"/>
              <a:ext cx="5186417" cy="43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9"/>
          <p:cNvSpPr/>
          <p:nvPr/>
        </p:nvSpPr>
        <p:spPr>
          <a:xfrm>
            <a:off x="9774845" y="6356141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9"/>
          <p:cNvSpPr txBox="1"/>
          <p:nvPr/>
        </p:nvSpPr>
        <p:spPr>
          <a:xfrm>
            <a:off x="9656735" y="6848438"/>
            <a:ext cx="7538776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Semana 11: Documentación y entrega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215" name="Google Shape;215;p10"/>
          <p:cNvSpPr/>
          <p:nvPr/>
        </p:nvSpPr>
        <p:spPr>
          <a:xfrm>
            <a:off x="6574661" y="-2875072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0"/>
          <p:cNvSpPr/>
          <p:nvPr/>
        </p:nvSpPr>
        <p:spPr>
          <a:xfrm>
            <a:off x="11491128" y="514350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0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0"/>
          <p:cNvSpPr txBox="1"/>
          <p:nvPr/>
        </p:nvSpPr>
        <p:spPr>
          <a:xfrm>
            <a:off x="1565009" y="1456751"/>
            <a:ext cx="95178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98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Resultado esperado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1437596" y="4178188"/>
            <a:ext cx="7298788" cy="2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Procesar los correos electrónicos de estudiantes automáticamente.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Extraer información clave de manera eficiente.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Reducir tiempo de respuesta a los alumnos y la carga administrativa de los docentes.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1910964" y="1760745"/>
            <a:ext cx="4299005" cy="2983601"/>
          </a:xfrm>
          <a:custGeom>
            <a:rect b="b" l="l" r="r" t="t"/>
            <a:pathLst>
              <a:path extrusionOk="0" h="693609" w="999406">
                <a:moveTo>
                  <a:pt x="100848" y="0"/>
                </a:moveTo>
                <a:lnTo>
                  <a:pt x="898558" y="0"/>
                </a:lnTo>
                <a:cubicBezTo>
                  <a:pt x="954255" y="0"/>
                  <a:pt x="999406" y="45151"/>
                  <a:pt x="999406" y="100848"/>
                </a:cubicBezTo>
                <a:lnTo>
                  <a:pt x="999406" y="592761"/>
                </a:lnTo>
                <a:cubicBezTo>
                  <a:pt x="999406" y="648458"/>
                  <a:pt x="954255" y="693609"/>
                  <a:pt x="898558" y="693609"/>
                </a:cubicBezTo>
                <a:lnTo>
                  <a:pt x="100848" y="693609"/>
                </a:lnTo>
                <a:cubicBezTo>
                  <a:pt x="45151" y="693609"/>
                  <a:pt x="0" y="648458"/>
                  <a:pt x="0" y="592761"/>
                </a:cubicBezTo>
                <a:lnTo>
                  <a:pt x="0" y="100848"/>
                </a:lnTo>
                <a:cubicBezTo>
                  <a:pt x="0" y="45151"/>
                  <a:pt x="45151" y="0"/>
                  <a:pt x="100848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4586" l="-85363" r="0" t="-33355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172" l="-12460" r="0" t="-15027"/>
            </a:stretch>
          </a:blipFill>
          <a:ln>
            <a:noFill/>
          </a:ln>
        </p:spPr>
      </p:sp>
      <p:grpSp>
        <p:nvGrpSpPr>
          <p:cNvPr id="226" name="Google Shape;226;p11"/>
          <p:cNvGrpSpPr/>
          <p:nvPr/>
        </p:nvGrpSpPr>
        <p:grpSpPr>
          <a:xfrm>
            <a:off x="0" y="-72330"/>
            <a:ext cx="12071988" cy="10359330"/>
            <a:chOff x="0" y="-19050"/>
            <a:chExt cx="3179454" cy="2728383"/>
          </a:xfrm>
        </p:grpSpPr>
        <p:sp>
          <p:nvSpPr>
            <p:cNvPr id="227" name="Google Shape;227;p11"/>
            <p:cNvSpPr/>
            <p:nvPr/>
          </p:nvSpPr>
          <p:spPr>
            <a:xfrm>
              <a:off x="0" y="0"/>
              <a:ext cx="3179454" cy="2709333"/>
            </a:xfrm>
            <a:custGeom>
              <a:rect b="b" l="l" r="r" t="t"/>
              <a:pathLst>
                <a:path extrusionOk="0" h="2709333" w="3179454">
                  <a:moveTo>
                    <a:pt x="0" y="0"/>
                  </a:moveTo>
                  <a:lnTo>
                    <a:pt x="3179454" y="0"/>
                  </a:lnTo>
                  <a:lnTo>
                    <a:pt x="3179454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33333">
                  <a:srgbClr val="000000"/>
                </a:gs>
                <a:gs pos="66667">
                  <a:srgbClr val="000000">
                    <a:alpha val="8235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8" name="Google Shape;228;p11"/>
            <p:cNvSpPr txBox="1"/>
            <p:nvPr/>
          </p:nvSpPr>
          <p:spPr>
            <a:xfrm>
              <a:off x="0" y="-19050"/>
              <a:ext cx="317945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1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1"/>
          <p:cNvSpPr txBox="1"/>
          <p:nvPr/>
        </p:nvSpPr>
        <p:spPr>
          <a:xfrm>
            <a:off x="1437596" y="2917963"/>
            <a:ext cx="7097411" cy="157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Conclusión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574661" y="-2875072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1"/>
          <p:cNvSpPr/>
          <p:nvPr/>
        </p:nvSpPr>
        <p:spPr>
          <a:xfrm>
            <a:off x="17033327" y="449580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