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10287000" cx="1828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8" roundtripDataSignature="AMtx7miUDtzYnvpv0CAr+oSvQlX4jxGPV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Relationship Id="rId4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Relationship Id="rId4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Relationship Id="rId4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Relationship Id="rId4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Relationship Id="rId4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4400" r="-35392" t="-59792"/>
            </a:stretch>
          </a:blipFill>
          <a:ln>
            <a:noFill/>
          </a:ln>
        </p:spPr>
      </p:sp>
      <p:grpSp>
        <p:nvGrpSpPr>
          <p:cNvPr id="85" name="Google Shape;85;p1"/>
          <p:cNvGrpSpPr/>
          <p:nvPr/>
        </p:nvGrpSpPr>
        <p:grpSpPr>
          <a:xfrm>
            <a:off x="3044393" y="4708945"/>
            <a:ext cx="12199215" cy="2363557"/>
            <a:chOff x="0" y="-38100"/>
            <a:chExt cx="3212962" cy="622501"/>
          </a:xfrm>
        </p:grpSpPr>
        <p:sp>
          <p:nvSpPr>
            <p:cNvPr id="86" name="Google Shape;86;p1"/>
            <p:cNvSpPr/>
            <p:nvPr/>
          </p:nvSpPr>
          <p:spPr>
            <a:xfrm>
              <a:off x="0" y="0"/>
              <a:ext cx="3212962" cy="584401"/>
            </a:xfrm>
            <a:custGeom>
              <a:rect b="b" l="l" r="r" t="t"/>
              <a:pathLst>
                <a:path extrusionOk="0" h="584401" w="3212962">
                  <a:moveTo>
                    <a:pt x="0" y="0"/>
                  </a:moveTo>
                  <a:lnTo>
                    <a:pt x="3212962" y="0"/>
                  </a:lnTo>
                  <a:lnTo>
                    <a:pt x="3212962" y="584401"/>
                  </a:lnTo>
                  <a:lnTo>
                    <a:pt x="0" y="584401"/>
                  </a:lnTo>
                  <a:close/>
                </a:path>
              </a:pathLst>
            </a:custGeom>
            <a:gradFill>
              <a:gsLst>
                <a:gs pos="0">
                  <a:srgbClr val="13429F">
                    <a:alpha val="41960"/>
                  </a:srgbClr>
                </a:gs>
                <a:gs pos="100000">
                  <a:srgbClr val="84BFD8">
                    <a:alpha val="41960"/>
                  </a:srgbClr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87" name="Google Shape;87;p1"/>
            <p:cNvSpPr txBox="1"/>
            <p:nvPr/>
          </p:nvSpPr>
          <p:spPr>
            <a:xfrm>
              <a:off x="0" y="-38100"/>
              <a:ext cx="3212962" cy="6225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88" name="Google Shape;88;p1"/>
          <p:cNvCxnSpPr/>
          <p:nvPr/>
        </p:nvCxnSpPr>
        <p:spPr>
          <a:xfrm>
            <a:off x="-1346078" y="9405917"/>
            <a:ext cx="21789428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" name="Google Shape;89;p1"/>
          <p:cNvSpPr/>
          <p:nvPr/>
        </p:nvSpPr>
        <p:spPr>
          <a:xfrm>
            <a:off x="12200223" y="402807"/>
            <a:ext cx="5535919" cy="1251787"/>
          </a:xfrm>
          <a:custGeom>
            <a:rect b="b" l="l" r="r" t="t"/>
            <a:pathLst>
              <a:path extrusionOk="0" h="1251787" w="5535919">
                <a:moveTo>
                  <a:pt x="0" y="0"/>
                </a:moveTo>
                <a:lnTo>
                  <a:pt x="5535919" y="0"/>
                </a:lnTo>
                <a:lnTo>
                  <a:pt x="5535919" y="1251786"/>
                </a:lnTo>
                <a:lnTo>
                  <a:pt x="0" y="12517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0" name="Google Shape;90;p1"/>
          <p:cNvSpPr txBox="1"/>
          <p:nvPr/>
        </p:nvSpPr>
        <p:spPr>
          <a:xfrm>
            <a:off x="4927120" y="2115606"/>
            <a:ext cx="8433760" cy="27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38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PROYECTO APT – AI EMAIL PARSER</a:t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4172662" y="4924061"/>
            <a:ext cx="9942676" cy="1877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3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AUTOMATIZACIÓN INTELIGENTE DE CORREOS</a:t>
            </a:r>
            <a:endParaRPr/>
          </a:p>
        </p:txBody>
      </p:sp>
      <p:sp>
        <p:nvSpPr>
          <p:cNvPr id="92" name="Google Shape;92;p1"/>
          <p:cNvSpPr txBox="1"/>
          <p:nvPr/>
        </p:nvSpPr>
        <p:spPr>
          <a:xfrm>
            <a:off x="649481" y="8282177"/>
            <a:ext cx="7839875" cy="10472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1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INTEGRANTES: </a:t>
            </a:r>
            <a:endParaRPr/>
          </a:p>
          <a:p>
            <a:pPr indent="0" lvl="0" marL="0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1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DAVID REYES – SEBASTIÁN LARA </a:t>
            </a:r>
            <a:endParaRPr/>
          </a:p>
        </p:txBody>
      </p:sp>
      <p:sp>
        <p:nvSpPr>
          <p:cNvPr id="93" name="Google Shape;93;p1"/>
          <p:cNvSpPr txBox="1"/>
          <p:nvPr/>
        </p:nvSpPr>
        <p:spPr>
          <a:xfrm>
            <a:off x="9250749" y="8777477"/>
            <a:ext cx="8008551" cy="5138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1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Carrera: Ingeniería en Informática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54238" r="-48786" t="-103020"/>
            </a:stretch>
          </a:blipFill>
          <a:ln>
            <a:noFill/>
          </a:ln>
        </p:spPr>
      </p:sp>
      <p:grpSp>
        <p:nvGrpSpPr>
          <p:cNvPr id="99" name="Google Shape;99;p2"/>
          <p:cNvGrpSpPr/>
          <p:nvPr/>
        </p:nvGrpSpPr>
        <p:grpSpPr>
          <a:xfrm>
            <a:off x="2984077" y="3237608"/>
            <a:ext cx="12199215" cy="1107302"/>
            <a:chOff x="0" y="-38100"/>
            <a:chExt cx="3212962" cy="291635"/>
          </a:xfrm>
        </p:grpSpPr>
        <p:sp>
          <p:nvSpPr>
            <p:cNvPr id="100" name="Google Shape;100;p2"/>
            <p:cNvSpPr/>
            <p:nvPr/>
          </p:nvSpPr>
          <p:spPr>
            <a:xfrm>
              <a:off x="0" y="0"/>
              <a:ext cx="3212962" cy="253535"/>
            </a:xfrm>
            <a:custGeom>
              <a:rect b="b" l="l" r="r" t="t"/>
              <a:pathLst>
                <a:path extrusionOk="0" h="253535" w="3212962">
                  <a:moveTo>
                    <a:pt x="0" y="0"/>
                  </a:moveTo>
                  <a:lnTo>
                    <a:pt x="3212962" y="0"/>
                  </a:lnTo>
                  <a:lnTo>
                    <a:pt x="3212962" y="253535"/>
                  </a:lnTo>
                  <a:lnTo>
                    <a:pt x="0" y="253535"/>
                  </a:lnTo>
                  <a:close/>
                </a:path>
              </a:pathLst>
            </a:custGeom>
            <a:gradFill>
              <a:gsLst>
                <a:gs pos="0">
                  <a:srgbClr val="13429F">
                    <a:alpha val="41960"/>
                  </a:srgbClr>
                </a:gs>
                <a:gs pos="100000">
                  <a:srgbClr val="84BFD8">
                    <a:alpha val="41960"/>
                  </a:srgbClr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01" name="Google Shape;101;p2"/>
            <p:cNvSpPr txBox="1"/>
            <p:nvPr/>
          </p:nvSpPr>
          <p:spPr>
            <a:xfrm>
              <a:off x="0" y="-38100"/>
              <a:ext cx="3212962" cy="2916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2" name="Google Shape;102;p2"/>
          <p:cNvSpPr txBox="1"/>
          <p:nvPr/>
        </p:nvSpPr>
        <p:spPr>
          <a:xfrm>
            <a:off x="696758" y="873263"/>
            <a:ext cx="16894483" cy="24948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INTRODUCCIÓN</a:t>
            </a:r>
            <a:endParaRPr/>
          </a:p>
        </p:txBody>
      </p:sp>
      <p:sp>
        <p:nvSpPr>
          <p:cNvPr id="103" name="Google Shape;103;p2"/>
          <p:cNvSpPr txBox="1"/>
          <p:nvPr/>
        </p:nvSpPr>
        <p:spPr>
          <a:xfrm>
            <a:off x="3044393" y="3276081"/>
            <a:ext cx="12078584" cy="974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3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¿QUÉ ES LA IA EMAIL PARSER?</a:t>
            </a:r>
            <a:endParaRPr/>
          </a:p>
        </p:txBody>
      </p:sp>
      <p:sp>
        <p:nvSpPr>
          <p:cNvPr id="104" name="Google Shape;104;p2"/>
          <p:cNvSpPr txBox="1"/>
          <p:nvPr/>
        </p:nvSpPr>
        <p:spPr>
          <a:xfrm>
            <a:off x="3044393" y="5076825"/>
            <a:ext cx="12199215" cy="43115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02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AI Email Parser es una aplicación que utiliza Inteligencia Artificial para analizar y organizar correos electrónicos. Surge como solución al exceso de correos que afecta la productividad diaria. Su objetivo es automatizar la lectura, clasificación y respuesta de correos, ayudando al usuario a mantener una bandeja limpia y ordenada.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54238" r="-48786" t="-103020"/>
            </a:stretch>
          </a:blipFill>
          <a:ln>
            <a:noFill/>
          </a:ln>
        </p:spPr>
      </p:sp>
      <p:sp>
        <p:nvSpPr>
          <p:cNvPr id="110" name="Google Shape;110;p3"/>
          <p:cNvSpPr/>
          <p:nvPr/>
        </p:nvSpPr>
        <p:spPr>
          <a:xfrm>
            <a:off x="1028700" y="1346374"/>
            <a:ext cx="6696744" cy="7594252"/>
          </a:xfrm>
          <a:custGeom>
            <a:rect b="b" l="l" r="r" t="t"/>
            <a:pathLst>
              <a:path extrusionOk="0" h="6023675" w="5311781">
                <a:moveTo>
                  <a:pt x="261924" y="0"/>
                </a:moveTo>
                <a:lnTo>
                  <a:pt x="5049858" y="0"/>
                </a:lnTo>
                <a:cubicBezTo>
                  <a:pt x="5119324" y="0"/>
                  <a:pt x="5185945" y="27595"/>
                  <a:pt x="5235066" y="76716"/>
                </a:cubicBezTo>
                <a:cubicBezTo>
                  <a:pt x="5284186" y="125836"/>
                  <a:pt x="5311781" y="192457"/>
                  <a:pt x="5311781" y="261924"/>
                </a:cubicBezTo>
                <a:lnTo>
                  <a:pt x="5311781" y="5761751"/>
                </a:lnTo>
                <a:cubicBezTo>
                  <a:pt x="5311781" y="5831218"/>
                  <a:pt x="5284186" y="5897839"/>
                  <a:pt x="5235066" y="5946959"/>
                </a:cubicBezTo>
                <a:cubicBezTo>
                  <a:pt x="5185945" y="5996079"/>
                  <a:pt x="5119324" y="6023675"/>
                  <a:pt x="5049858" y="6023675"/>
                </a:cubicBezTo>
                <a:lnTo>
                  <a:pt x="261924" y="6023675"/>
                </a:lnTo>
                <a:cubicBezTo>
                  <a:pt x="192457" y="6023675"/>
                  <a:pt x="125836" y="5996079"/>
                  <a:pt x="76716" y="5946959"/>
                </a:cubicBezTo>
                <a:cubicBezTo>
                  <a:pt x="27595" y="5897839"/>
                  <a:pt x="0" y="5831218"/>
                  <a:pt x="0" y="5761751"/>
                </a:cubicBezTo>
                <a:lnTo>
                  <a:pt x="0" y="261924"/>
                </a:lnTo>
                <a:cubicBezTo>
                  <a:pt x="0" y="192457"/>
                  <a:pt x="27595" y="125836"/>
                  <a:pt x="76716" y="76716"/>
                </a:cubicBezTo>
                <a:cubicBezTo>
                  <a:pt x="125836" y="27595"/>
                  <a:pt x="192457" y="0"/>
                  <a:pt x="261924" y="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35101" r="-35102" t="0"/>
            </a:stretch>
          </a:blipFill>
          <a:ln cap="rnd" cmpd="sng" w="1047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1" name="Google Shape;111;p3"/>
          <p:cNvCxnSpPr/>
          <p:nvPr/>
        </p:nvCxnSpPr>
        <p:spPr>
          <a:xfrm rot="10800000">
            <a:off x="8583592" y="3498911"/>
            <a:ext cx="12349820" cy="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" name="Google Shape;112;p3"/>
          <p:cNvSpPr txBox="1"/>
          <p:nvPr/>
        </p:nvSpPr>
        <p:spPr>
          <a:xfrm>
            <a:off x="8251750" y="3816820"/>
            <a:ext cx="9307462" cy="48493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56231" lvl="1" marL="712462" marR="0" rtl="0" algn="l">
              <a:lnSpc>
                <a:spcPct val="14701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99"/>
              <a:buFont typeface="Arial"/>
              <a:buChar char="•"/>
            </a:pPr>
            <a:r>
              <a:rPr b="0" i="0" lang="en-US" sz="32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Las personas reciben demasiados correos (laborales, estudios, trámites).</a:t>
            </a:r>
            <a:endParaRPr/>
          </a:p>
          <a:p>
            <a:pPr indent="-356231" lvl="1" marL="712462" marR="0" rtl="0" algn="l">
              <a:lnSpc>
                <a:spcPct val="14701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99"/>
              <a:buFont typeface="Arial"/>
              <a:buChar char="•"/>
            </a:pPr>
            <a:r>
              <a:rPr b="0" i="0" lang="en-US" sz="32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 pierden mensajes importantes.</a:t>
            </a:r>
            <a:endParaRPr/>
          </a:p>
          <a:p>
            <a:pPr indent="-356231" lvl="1" marL="712462" marR="0" rtl="0" algn="l">
              <a:lnSpc>
                <a:spcPct val="14701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99"/>
              <a:buFont typeface="Arial"/>
              <a:buChar char="•"/>
            </a:pPr>
            <a:r>
              <a:rPr b="0" i="0" lang="en-US" sz="32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Mucho tiempo revisando bandejas saturadas.</a:t>
            </a:r>
            <a:endParaRPr/>
          </a:p>
          <a:p>
            <a:pPr indent="-356231" lvl="1" marL="712462" marR="0" rtl="0" algn="l">
              <a:lnSpc>
                <a:spcPct val="14701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99"/>
              <a:buFont typeface="Arial"/>
              <a:buChar char="•"/>
            </a:pPr>
            <a:r>
              <a:rPr b="0" i="0" lang="en-US" sz="32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Falta de organización → estrés y pérdida de productividad.</a:t>
            </a:r>
            <a:endParaRPr/>
          </a:p>
          <a:p>
            <a:pPr indent="0" lvl="0" marL="0" marR="0" rtl="0" algn="l">
              <a:lnSpc>
                <a:spcPct val="147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9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3"/>
          <p:cNvSpPr txBox="1"/>
          <p:nvPr/>
        </p:nvSpPr>
        <p:spPr>
          <a:xfrm>
            <a:off x="8583592" y="1671201"/>
            <a:ext cx="8975621" cy="1543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33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PROBLEMA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54238" r="-48786" t="-103020"/>
            </a:stretch>
          </a:blipFill>
          <a:ln>
            <a:noFill/>
          </a:ln>
        </p:spPr>
      </p:sp>
      <p:cxnSp>
        <p:nvCxnSpPr>
          <p:cNvPr id="119" name="Google Shape;119;p4"/>
          <p:cNvCxnSpPr/>
          <p:nvPr/>
        </p:nvCxnSpPr>
        <p:spPr>
          <a:xfrm rot="10800000">
            <a:off x="7525985" y="3860571"/>
            <a:ext cx="12349820" cy="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0" name="Google Shape;120;p4"/>
          <p:cNvSpPr/>
          <p:nvPr/>
        </p:nvSpPr>
        <p:spPr>
          <a:xfrm>
            <a:off x="1028700" y="1028700"/>
            <a:ext cx="5827348" cy="8229599"/>
          </a:xfrm>
          <a:custGeom>
            <a:rect b="b" l="l" r="r" t="t"/>
            <a:pathLst>
              <a:path extrusionOk="0" h="6625303" w="4691352">
                <a:moveTo>
                  <a:pt x="301001" y="0"/>
                </a:moveTo>
                <a:lnTo>
                  <a:pt x="4390351" y="0"/>
                </a:lnTo>
                <a:cubicBezTo>
                  <a:pt x="4470181" y="0"/>
                  <a:pt x="4546742" y="31712"/>
                  <a:pt x="4603191" y="88161"/>
                </a:cubicBezTo>
                <a:cubicBezTo>
                  <a:pt x="4659639" y="144610"/>
                  <a:pt x="4691352" y="221170"/>
                  <a:pt x="4691352" y="301001"/>
                </a:cubicBezTo>
                <a:lnTo>
                  <a:pt x="4691352" y="6324303"/>
                </a:lnTo>
                <a:cubicBezTo>
                  <a:pt x="4691352" y="6404133"/>
                  <a:pt x="4659639" y="6480694"/>
                  <a:pt x="4603191" y="6537142"/>
                </a:cubicBezTo>
                <a:cubicBezTo>
                  <a:pt x="4546742" y="6593591"/>
                  <a:pt x="4470181" y="6625303"/>
                  <a:pt x="4390351" y="6625303"/>
                </a:cubicBezTo>
                <a:lnTo>
                  <a:pt x="301001" y="6625303"/>
                </a:lnTo>
                <a:cubicBezTo>
                  <a:pt x="221170" y="6625303"/>
                  <a:pt x="144610" y="6593591"/>
                  <a:pt x="88161" y="6537142"/>
                </a:cubicBezTo>
                <a:cubicBezTo>
                  <a:pt x="31712" y="6480694"/>
                  <a:pt x="0" y="6404133"/>
                  <a:pt x="0" y="6324303"/>
                </a:cubicBezTo>
                <a:lnTo>
                  <a:pt x="0" y="301001"/>
                </a:lnTo>
                <a:cubicBezTo>
                  <a:pt x="0" y="221170"/>
                  <a:pt x="31712" y="144610"/>
                  <a:pt x="88161" y="88161"/>
                </a:cubicBezTo>
                <a:cubicBezTo>
                  <a:pt x="144610" y="31712"/>
                  <a:pt x="221170" y="0"/>
                  <a:pt x="301001" y="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17189" r="-17189" t="0"/>
            </a:stretch>
          </a:blipFill>
          <a:ln cap="rnd" cmpd="sng" w="1047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"/>
          <p:cNvSpPr txBox="1"/>
          <p:nvPr/>
        </p:nvSpPr>
        <p:spPr>
          <a:xfrm>
            <a:off x="7525985" y="863845"/>
            <a:ext cx="8975621" cy="29776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33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SOLUCIÓN: AI EMAIL PARSER</a:t>
            </a:r>
            <a:endParaRPr/>
          </a:p>
        </p:txBody>
      </p:sp>
      <p:sp>
        <p:nvSpPr>
          <p:cNvPr id="122" name="Google Shape;122;p4"/>
          <p:cNvSpPr txBox="1"/>
          <p:nvPr/>
        </p:nvSpPr>
        <p:spPr>
          <a:xfrm>
            <a:off x="7525985" y="4433980"/>
            <a:ext cx="9346635" cy="4115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1036" lvl="1" marL="722072" marR="0" rtl="0" algn="l">
              <a:lnSpc>
                <a:spcPct val="14005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43"/>
              <a:buFont typeface="Arial"/>
              <a:buChar char="•"/>
            </a:pPr>
            <a:r>
              <a:rPr b="0" i="0" lang="en-US" sz="3343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Aplicación que lee, organiza y responde correos automáticamente.</a:t>
            </a:r>
            <a:endParaRPr/>
          </a:p>
          <a:p>
            <a:pPr indent="-361036" lvl="1" marL="722072" marR="0" rtl="0" algn="l">
              <a:lnSpc>
                <a:spcPct val="14005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43"/>
              <a:buFont typeface="Arial"/>
              <a:buChar char="•"/>
            </a:pPr>
            <a:r>
              <a:rPr b="0" i="0" lang="en-US" sz="3343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Integración directa con Gmail (OAuth2).</a:t>
            </a:r>
            <a:endParaRPr/>
          </a:p>
          <a:p>
            <a:pPr indent="-361036" lvl="1" marL="722072" marR="0" rtl="0" algn="l">
              <a:lnSpc>
                <a:spcPct val="14005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43"/>
              <a:buFont typeface="Arial"/>
              <a:buChar char="•"/>
            </a:pPr>
            <a:r>
              <a:rPr b="0" i="0" lang="en-US" sz="3343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Clasificación inteligente por etiquetas y prioridades.</a:t>
            </a:r>
            <a:endParaRPr/>
          </a:p>
          <a:p>
            <a:pPr indent="-361036" lvl="1" marL="722072" marR="0" rtl="0" algn="l">
              <a:lnSpc>
                <a:spcPct val="14005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43"/>
              <a:buFont typeface="Arial"/>
              <a:buChar char="•"/>
            </a:pPr>
            <a:r>
              <a:rPr b="0" i="0" lang="en-US" sz="3343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Respuestas sugeridas mediante IA.</a:t>
            </a:r>
            <a:endParaRPr/>
          </a:p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343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54238" r="-48786" t="-103020"/>
            </a:stretch>
          </a:blipFill>
          <a:ln>
            <a:noFill/>
          </a:ln>
        </p:spPr>
      </p:sp>
      <p:sp>
        <p:nvSpPr>
          <p:cNvPr id="128" name="Google Shape;128;p5"/>
          <p:cNvSpPr/>
          <p:nvPr/>
        </p:nvSpPr>
        <p:spPr>
          <a:xfrm>
            <a:off x="13009539" y="4173433"/>
            <a:ext cx="806833" cy="624929"/>
          </a:xfrm>
          <a:custGeom>
            <a:rect b="b" l="l" r="r" t="t"/>
            <a:pathLst>
              <a:path extrusionOk="0" h="624929" w="806833">
                <a:moveTo>
                  <a:pt x="0" y="0"/>
                </a:moveTo>
                <a:lnTo>
                  <a:pt x="806833" y="0"/>
                </a:lnTo>
                <a:lnTo>
                  <a:pt x="806833" y="624929"/>
                </a:lnTo>
                <a:lnTo>
                  <a:pt x="0" y="6249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9" name="Google Shape;129;p5"/>
          <p:cNvSpPr/>
          <p:nvPr/>
        </p:nvSpPr>
        <p:spPr>
          <a:xfrm>
            <a:off x="13009539" y="5104281"/>
            <a:ext cx="806833" cy="624929"/>
          </a:xfrm>
          <a:custGeom>
            <a:rect b="b" l="l" r="r" t="t"/>
            <a:pathLst>
              <a:path extrusionOk="0" h="624929" w="806833">
                <a:moveTo>
                  <a:pt x="0" y="0"/>
                </a:moveTo>
                <a:lnTo>
                  <a:pt x="806833" y="0"/>
                </a:lnTo>
                <a:lnTo>
                  <a:pt x="806833" y="624929"/>
                </a:lnTo>
                <a:lnTo>
                  <a:pt x="0" y="6249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0" name="Google Shape;130;p5"/>
          <p:cNvSpPr/>
          <p:nvPr/>
        </p:nvSpPr>
        <p:spPr>
          <a:xfrm>
            <a:off x="13009539" y="5820497"/>
            <a:ext cx="806833" cy="624929"/>
          </a:xfrm>
          <a:custGeom>
            <a:rect b="b" l="l" r="r" t="t"/>
            <a:pathLst>
              <a:path extrusionOk="0" h="624929" w="806833">
                <a:moveTo>
                  <a:pt x="0" y="0"/>
                </a:moveTo>
                <a:lnTo>
                  <a:pt x="806833" y="0"/>
                </a:lnTo>
                <a:lnTo>
                  <a:pt x="806833" y="624928"/>
                </a:lnTo>
                <a:lnTo>
                  <a:pt x="0" y="624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1" name="Google Shape;131;p5"/>
          <p:cNvSpPr/>
          <p:nvPr/>
        </p:nvSpPr>
        <p:spPr>
          <a:xfrm>
            <a:off x="13009539" y="6750225"/>
            <a:ext cx="806833" cy="624929"/>
          </a:xfrm>
          <a:custGeom>
            <a:rect b="b" l="l" r="r" t="t"/>
            <a:pathLst>
              <a:path extrusionOk="0" h="624929" w="806833">
                <a:moveTo>
                  <a:pt x="0" y="0"/>
                </a:moveTo>
                <a:lnTo>
                  <a:pt x="806833" y="0"/>
                </a:lnTo>
                <a:lnTo>
                  <a:pt x="806833" y="624929"/>
                </a:lnTo>
                <a:lnTo>
                  <a:pt x="0" y="6249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2" name="Google Shape;132;p5"/>
          <p:cNvSpPr/>
          <p:nvPr/>
        </p:nvSpPr>
        <p:spPr>
          <a:xfrm>
            <a:off x="13009539" y="8092488"/>
            <a:ext cx="806833" cy="624929"/>
          </a:xfrm>
          <a:custGeom>
            <a:rect b="b" l="l" r="r" t="t"/>
            <a:pathLst>
              <a:path extrusionOk="0" h="624929" w="806833">
                <a:moveTo>
                  <a:pt x="0" y="0"/>
                </a:moveTo>
                <a:lnTo>
                  <a:pt x="806833" y="0"/>
                </a:lnTo>
                <a:lnTo>
                  <a:pt x="806833" y="624929"/>
                </a:lnTo>
                <a:lnTo>
                  <a:pt x="0" y="6249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3" name="Google Shape;133;p5"/>
          <p:cNvSpPr txBox="1"/>
          <p:nvPr/>
        </p:nvSpPr>
        <p:spPr>
          <a:xfrm>
            <a:off x="1434090" y="1032867"/>
            <a:ext cx="15825210" cy="1543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33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ARQUITECTURA DEL PROYECTO</a:t>
            </a:r>
            <a:endParaRPr/>
          </a:p>
        </p:txBody>
      </p:sp>
      <p:sp>
        <p:nvSpPr>
          <p:cNvPr id="134" name="Google Shape;134;p5"/>
          <p:cNvSpPr txBox="1"/>
          <p:nvPr/>
        </p:nvSpPr>
        <p:spPr>
          <a:xfrm>
            <a:off x="1028700" y="4068658"/>
            <a:ext cx="10143973" cy="46487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56689" lvl="1" marL="913377" marR="0" rtl="0" algn="l">
              <a:lnSpc>
                <a:spcPct val="14699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30"/>
              <a:buFont typeface="Arial"/>
              <a:buChar char="•"/>
            </a:pPr>
            <a:r>
              <a:rPr b="0" i="0" lang="en-US" sz="42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Frontend: React + Vite</a:t>
            </a:r>
            <a:endParaRPr/>
          </a:p>
          <a:p>
            <a:pPr indent="-456689" lvl="1" marL="913377" marR="0" rtl="0" algn="l">
              <a:lnSpc>
                <a:spcPct val="14699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30"/>
              <a:buFont typeface="Arial"/>
              <a:buChar char="•"/>
            </a:pPr>
            <a:r>
              <a:rPr b="0" i="0" lang="en-US" sz="42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Backend: FastAPI (Python)</a:t>
            </a:r>
            <a:endParaRPr/>
          </a:p>
          <a:p>
            <a:pPr indent="-456689" lvl="1" marL="913377" marR="0" rtl="0" algn="l">
              <a:lnSpc>
                <a:spcPct val="14699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30"/>
              <a:buFont typeface="Arial"/>
              <a:buChar char="•"/>
            </a:pPr>
            <a:r>
              <a:rPr b="0" i="0" lang="en-US" sz="42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Base de Datos: PostgreSQL</a:t>
            </a:r>
            <a:endParaRPr/>
          </a:p>
          <a:p>
            <a:pPr indent="-456689" lvl="1" marL="913377" marR="0" rtl="0" algn="l">
              <a:lnSpc>
                <a:spcPct val="14699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30"/>
              <a:buFont typeface="Arial"/>
              <a:buChar char="•"/>
            </a:pPr>
            <a:r>
              <a:rPr b="0" i="0" lang="en-US" sz="42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IA: Modelos NLP para clasificación y análisis de texto</a:t>
            </a:r>
            <a:endParaRPr/>
          </a:p>
          <a:p>
            <a:pPr indent="-456689" lvl="1" marL="913377" marR="0" rtl="0" algn="l">
              <a:lnSpc>
                <a:spcPct val="14699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30"/>
              <a:buFont typeface="Arial"/>
              <a:buChar char="•"/>
            </a:pPr>
            <a:r>
              <a:rPr b="0" i="0" lang="en-US" sz="42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Integraciones: API de Gmail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54238" r="-48786" t="-103020"/>
            </a:stretch>
          </a:blipFill>
          <a:ln>
            <a:noFill/>
          </a:ln>
        </p:spPr>
      </p:sp>
      <p:sp>
        <p:nvSpPr>
          <p:cNvPr id="140" name="Google Shape;140;p6"/>
          <p:cNvSpPr txBox="1"/>
          <p:nvPr/>
        </p:nvSpPr>
        <p:spPr>
          <a:xfrm>
            <a:off x="3167175" y="3699297"/>
            <a:ext cx="5851166" cy="9849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46" u="sng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USUARIO INICIA SESIÓN CON GMAIL (OAUTH).</a:t>
            </a:r>
            <a:endParaRPr/>
          </a:p>
        </p:txBody>
      </p:sp>
      <p:sp>
        <p:nvSpPr>
          <p:cNvPr id="141" name="Google Shape;141;p6"/>
          <p:cNvSpPr txBox="1"/>
          <p:nvPr/>
        </p:nvSpPr>
        <p:spPr>
          <a:xfrm>
            <a:off x="3167175" y="5604625"/>
            <a:ext cx="5851166" cy="9849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46" u="sng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 APP OBTIENE CORREOS RELEVANTES.</a:t>
            </a:r>
            <a:endParaRPr/>
          </a:p>
        </p:txBody>
      </p:sp>
      <p:sp>
        <p:nvSpPr>
          <p:cNvPr id="142" name="Google Shape;142;p6"/>
          <p:cNvSpPr txBox="1"/>
          <p:nvPr/>
        </p:nvSpPr>
        <p:spPr>
          <a:xfrm>
            <a:off x="3167175" y="7863287"/>
            <a:ext cx="6053190" cy="9849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46" u="sng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IA ANALIZA: CONTENIDO, URGENCIA, INTENCIÓN.</a:t>
            </a:r>
            <a:endParaRPr/>
          </a:p>
        </p:txBody>
      </p:sp>
      <p:sp>
        <p:nvSpPr>
          <p:cNvPr id="143" name="Google Shape;143;p6"/>
          <p:cNvSpPr txBox="1"/>
          <p:nvPr/>
        </p:nvSpPr>
        <p:spPr>
          <a:xfrm>
            <a:off x="10985708" y="4767290"/>
            <a:ext cx="6273592" cy="4801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46" u="sng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PROCESAMIENTO DE DATOS</a:t>
            </a:r>
            <a:endParaRPr/>
          </a:p>
        </p:txBody>
      </p:sp>
      <p:sp>
        <p:nvSpPr>
          <p:cNvPr id="144" name="Google Shape;144;p6"/>
          <p:cNvSpPr txBox="1"/>
          <p:nvPr/>
        </p:nvSpPr>
        <p:spPr>
          <a:xfrm>
            <a:off x="1231395" y="1353240"/>
            <a:ext cx="15825210" cy="1537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33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FUNCIONAMIENTO GENERAL</a:t>
            </a:r>
            <a:endParaRPr/>
          </a:p>
        </p:txBody>
      </p:sp>
      <p:sp>
        <p:nvSpPr>
          <p:cNvPr id="145" name="Google Shape;145;p6"/>
          <p:cNvSpPr/>
          <p:nvPr/>
        </p:nvSpPr>
        <p:spPr>
          <a:xfrm>
            <a:off x="1592572" y="3527564"/>
            <a:ext cx="1279186" cy="1277587"/>
          </a:xfrm>
          <a:custGeom>
            <a:rect b="b" l="l" r="r" t="t"/>
            <a:pathLst>
              <a:path extrusionOk="0" h="1277587" w="1279186">
                <a:moveTo>
                  <a:pt x="0" y="0"/>
                </a:moveTo>
                <a:lnTo>
                  <a:pt x="1279187" y="0"/>
                </a:lnTo>
                <a:lnTo>
                  <a:pt x="1279187" y="1277587"/>
                </a:lnTo>
                <a:lnTo>
                  <a:pt x="0" y="12775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6" name="Google Shape;146;p6"/>
          <p:cNvSpPr/>
          <p:nvPr/>
        </p:nvSpPr>
        <p:spPr>
          <a:xfrm>
            <a:off x="1535564" y="5609559"/>
            <a:ext cx="1279186" cy="1277587"/>
          </a:xfrm>
          <a:custGeom>
            <a:rect b="b" l="l" r="r" t="t"/>
            <a:pathLst>
              <a:path extrusionOk="0" h="1277587" w="1279186">
                <a:moveTo>
                  <a:pt x="0" y="0"/>
                </a:moveTo>
                <a:lnTo>
                  <a:pt x="1279186" y="0"/>
                </a:lnTo>
                <a:lnTo>
                  <a:pt x="1279186" y="1277587"/>
                </a:lnTo>
                <a:lnTo>
                  <a:pt x="0" y="12775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7" name="Google Shape;147;p6"/>
          <p:cNvSpPr/>
          <p:nvPr/>
        </p:nvSpPr>
        <p:spPr>
          <a:xfrm>
            <a:off x="1592572" y="7691554"/>
            <a:ext cx="1279186" cy="1277587"/>
          </a:xfrm>
          <a:custGeom>
            <a:rect b="b" l="l" r="r" t="t"/>
            <a:pathLst>
              <a:path extrusionOk="0" h="1277587" w="1279186">
                <a:moveTo>
                  <a:pt x="0" y="0"/>
                </a:moveTo>
                <a:lnTo>
                  <a:pt x="1279187" y="0"/>
                </a:lnTo>
                <a:lnTo>
                  <a:pt x="1279187" y="1277588"/>
                </a:lnTo>
                <a:lnTo>
                  <a:pt x="0" y="12775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8" name="Google Shape;148;p6"/>
          <p:cNvSpPr/>
          <p:nvPr/>
        </p:nvSpPr>
        <p:spPr>
          <a:xfrm>
            <a:off x="9372600" y="4369668"/>
            <a:ext cx="1279186" cy="1277587"/>
          </a:xfrm>
          <a:custGeom>
            <a:rect b="b" l="l" r="r" t="t"/>
            <a:pathLst>
              <a:path extrusionOk="0" h="1277587" w="1279186">
                <a:moveTo>
                  <a:pt x="0" y="0"/>
                </a:moveTo>
                <a:lnTo>
                  <a:pt x="1279186" y="0"/>
                </a:lnTo>
                <a:lnTo>
                  <a:pt x="1279186" y="1277588"/>
                </a:lnTo>
                <a:lnTo>
                  <a:pt x="0" y="12775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9" name="Google Shape;149;p6"/>
          <p:cNvSpPr txBox="1"/>
          <p:nvPr/>
        </p:nvSpPr>
        <p:spPr>
          <a:xfrm>
            <a:off x="1846479" y="3798091"/>
            <a:ext cx="815388" cy="6894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50" name="Google Shape;150;p6"/>
          <p:cNvSpPr txBox="1"/>
          <p:nvPr/>
        </p:nvSpPr>
        <p:spPr>
          <a:xfrm>
            <a:off x="1824471" y="5801717"/>
            <a:ext cx="815388" cy="6894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51" name="Google Shape;151;p6"/>
          <p:cNvSpPr txBox="1"/>
          <p:nvPr/>
        </p:nvSpPr>
        <p:spPr>
          <a:xfrm>
            <a:off x="1846479" y="7969968"/>
            <a:ext cx="815388" cy="6894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52" name="Google Shape;152;p6"/>
          <p:cNvSpPr txBox="1"/>
          <p:nvPr/>
        </p:nvSpPr>
        <p:spPr>
          <a:xfrm>
            <a:off x="9604499" y="4625660"/>
            <a:ext cx="815388" cy="6894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153" name="Google Shape;153;p6"/>
          <p:cNvSpPr/>
          <p:nvPr/>
        </p:nvSpPr>
        <p:spPr>
          <a:xfrm>
            <a:off x="9372600" y="6887146"/>
            <a:ext cx="1279186" cy="1277587"/>
          </a:xfrm>
          <a:custGeom>
            <a:rect b="b" l="l" r="r" t="t"/>
            <a:pathLst>
              <a:path extrusionOk="0" h="1277587" w="1279186">
                <a:moveTo>
                  <a:pt x="0" y="0"/>
                </a:moveTo>
                <a:lnTo>
                  <a:pt x="1279186" y="0"/>
                </a:lnTo>
                <a:lnTo>
                  <a:pt x="1279186" y="1277588"/>
                </a:lnTo>
                <a:lnTo>
                  <a:pt x="0" y="12775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4" name="Google Shape;154;p6"/>
          <p:cNvSpPr txBox="1"/>
          <p:nvPr/>
        </p:nvSpPr>
        <p:spPr>
          <a:xfrm>
            <a:off x="10985708" y="7256835"/>
            <a:ext cx="6273592" cy="4801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46" u="sng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SUGIERE O GENERA RESPUESTAS.</a:t>
            </a:r>
            <a:endParaRPr/>
          </a:p>
        </p:txBody>
      </p:sp>
      <p:sp>
        <p:nvSpPr>
          <p:cNvPr id="155" name="Google Shape;155;p6"/>
          <p:cNvSpPr txBox="1"/>
          <p:nvPr/>
        </p:nvSpPr>
        <p:spPr>
          <a:xfrm>
            <a:off x="9604499" y="7115205"/>
            <a:ext cx="815388" cy="6894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54238" r="-48786" t="-103020"/>
            </a:stretch>
          </a:blipFill>
          <a:ln>
            <a:noFill/>
          </a:ln>
        </p:spPr>
      </p:sp>
      <p:grpSp>
        <p:nvGrpSpPr>
          <p:cNvPr id="161" name="Google Shape;161;p7"/>
          <p:cNvGrpSpPr/>
          <p:nvPr/>
        </p:nvGrpSpPr>
        <p:grpSpPr>
          <a:xfrm>
            <a:off x="-4477396" y="-2951291"/>
            <a:ext cx="11563197" cy="13957026"/>
            <a:chOff x="0" y="-38100"/>
            <a:chExt cx="812800" cy="981067"/>
          </a:xfrm>
        </p:grpSpPr>
        <p:sp>
          <p:nvSpPr>
            <p:cNvPr id="162" name="Google Shape;162;p7"/>
            <p:cNvSpPr/>
            <p:nvPr/>
          </p:nvSpPr>
          <p:spPr>
            <a:xfrm>
              <a:off x="0" y="0"/>
              <a:ext cx="812800" cy="942967"/>
            </a:xfrm>
            <a:custGeom>
              <a:rect b="b" l="l" r="r" t="t"/>
              <a:pathLst>
                <a:path extrusionOk="0" h="942967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942967"/>
                  </a:lnTo>
                  <a:lnTo>
                    <a:pt x="0" y="942967"/>
                  </a:lnTo>
                  <a:close/>
                </a:path>
              </a:pathLst>
            </a:custGeom>
            <a:solidFill>
              <a:srgbClr val="0038A8">
                <a:alpha val="76862"/>
              </a:srgbClr>
            </a:solidFill>
            <a:ln>
              <a:noFill/>
            </a:ln>
          </p:spPr>
        </p:sp>
        <p:sp>
          <p:nvSpPr>
            <p:cNvPr id="163" name="Google Shape;163;p7"/>
            <p:cNvSpPr txBox="1"/>
            <p:nvPr/>
          </p:nvSpPr>
          <p:spPr>
            <a:xfrm>
              <a:off x="0" y="-38100"/>
              <a:ext cx="812800" cy="9810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4" name="Google Shape;164;p7"/>
          <p:cNvSpPr txBox="1"/>
          <p:nvPr/>
        </p:nvSpPr>
        <p:spPr>
          <a:xfrm>
            <a:off x="7124926" y="2893269"/>
            <a:ext cx="10293753" cy="59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60871" lvl="1" marL="921742" marR="0" rtl="0" algn="l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69"/>
              <a:buFont typeface="Arial"/>
              <a:buChar char="•"/>
            </a:pPr>
            <a:r>
              <a:rPr b="1" i="0" lang="en-US" sz="426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Más organización, menos estrés.</a:t>
            </a:r>
            <a:endParaRPr/>
          </a:p>
          <a:p>
            <a:pPr indent="-460871" lvl="1" marL="921742" marR="0" rtl="0" algn="l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69"/>
              <a:buFont typeface="Arial"/>
              <a:buChar char="•"/>
            </a:pPr>
            <a:r>
              <a:rPr b="1" i="0" lang="en-US" sz="426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Ahorro de tiempo diario.</a:t>
            </a:r>
            <a:endParaRPr/>
          </a:p>
          <a:p>
            <a:pPr indent="-460871" lvl="1" marL="921742" marR="0" rtl="0" algn="l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69"/>
              <a:buFont typeface="Arial"/>
              <a:buChar char="•"/>
            </a:pPr>
            <a:r>
              <a:rPr b="1" i="0" lang="en-US" sz="426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Productividad elevada.</a:t>
            </a:r>
            <a:endParaRPr/>
          </a:p>
          <a:p>
            <a:pPr indent="-460871" lvl="1" marL="921742" marR="0" rtl="0" algn="l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69"/>
              <a:buFont typeface="Arial"/>
              <a:buChar char="•"/>
            </a:pPr>
            <a:r>
              <a:rPr b="1" i="0" lang="en-US" sz="426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Centralización de correos importantes.</a:t>
            </a:r>
            <a:endParaRPr/>
          </a:p>
          <a:p>
            <a:pPr indent="-460871" lvl="1" marL="921742" marR="0" rtl="0" algn="l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69"/>
              <a:buFont typeface="Arial"/>
              <a:buChar char="•"/>
            </a:pPr>
            <a:r>
              <a:rPr b="1" i="0" lang="en-US" sz="426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Herramienta útil para estudiantes y trabajadores.</a:t>
            </a:r>
            <a:endParaRPr/>
          </a:p>
          <a:p>
            <a:pPr indent="0" lvl="0" marL="0" marR="0" rtl="0" algn="l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26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7"/>
          <p:cNvSpPr/>
          <p:nvPr/>
        </p:nvSpPr>
        <p:spPr>
          <a:xfrm flipH="1">
            <a:off x="-7642979" y="-93094"/>
            <a:ext cx="14270881" cy="10284789"/>
          </a:xfrm>
          <a:custGeom>
            <a:rect b="b" l="l" r="r" t="t"/>
            <a:pathLst>
              <a:path extrusionOk="0" h="10284789" w="14270881">
                <a:moveTo>
                  <a:pt x="14270881" y="0"/>
                </a:moveTo>
                <a:lnTo>
                  <a:pt x="0" y="0"/>
                </a:lnTo>
                <a:lnTo>
                  <a:pt x="0" y="10284790"/>
                </a:lnTo>
                <a:lnTo>
                  <a:pt x="14270881" y="10284790"/>
                </a:lnTo>
                <a:lnTo>
                  <a:pt x="14270881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8168" r="0" t="0"/>
            </a:stretch>
          </a:blipFill>
          <a:ln>
            <a:noFill/>
          </a:ln>
        </p:spPr>
      </p:sp>
      <p:sp>
        <p:nvSpPr>
          <p:cNvPr id="166" name="Google Shape;166;p7"/>
          <p:cNvSpPr txBox="1"/>
          <p:nvPr/>
        </p:nvSpPr>
        <p:spPr>
          <a:xfrm>
            <a:off x="4359198" y="714375"/>
            <a:ext cx="15825210" cy="1537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33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BENEFICIOS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54238" r="-48786" t="-103020"/>
            </a:stretch>
          </a:blipFill>
          <a:ln>
            <a:noFill/>
          </a:ln>
        </p:spPr>
      </p:sp>
      <p:cxnSp>
        <p:nvCxnSpPr>
          <p:cNvPr id="172" name="Google Shape;172;p8"/>
          <p:cNvCxnSpPr/>
          <p:nvPr/>
        </p:nvCxnSpPr>
        <p:spPr>
          <a:xfrm rot="10800000">
            <a:off x="-3345431" y="3692057"/>
            <a:ext cx="12349800" cy="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3" name="Google Shape;173;p8"/>
          <p:cNvSpPr txBox="1"/>
          <p:nvPr/>
        </p:nvSpPr>
        <p:spPr>
          <a:xfrm>
            <a:off x="1768900" y="4591857"/>
            <a:ext cx="6573044" cy="3630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56231" lvl="1" marL="712462" marR="0" rtl="0" algn="l">
              <a:lnSpc>
                <a:spcPct val="14701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99"/>
              <a:buFont typeface="Arial"/>
              <a:buChar char="•"/>
            </a:pPr>
            <a:r>
              <a:rPr b="0" i="0" lang="en-US" sz="32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Inicio moderno y minimalista.</a:t>
            </a:r>
            <a:endParaRPr/>
          </a:p>
          <a:p>
            <a:pPr indent="-356231" lvl="1" marL="712462" marR="0" rtl="0" algn="l">
              <a:lnSpc>
                <a:spcPct val="14701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99"/>
              <a:buFont typeface="Arial"/>
              <a:buChar char="•"/>
            </a:pPr>
            <a:r>
              <a:rPr b="0" i="0" lang="en-US" sz="32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Dashboard de correos.</a:t>
            </a:r>
            <a:endParaRPr/>
          </a:p>
          <a:p>
            <a:pPr indent="-356231" lvl="1" marL="712462" marR="0" rtl="0" algn="l">
              <a:lnSpc>
                <a:spcPct val="14701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99"/>
              <a:buFont typeface="Arial"/>
              <a:buChar char="•"/>
            </a:pPr>
            <a:r>
              <a:rPr b="0" i="0" lang="en-US" sz="32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Lista de categorías.</a:t>
            </a:r>
            <a:endParaRPr/>
          </a:p>
          <a:p>
            <a:pPr indent="-356231" lvl="1" marL="712462" marR="0" rtl="0" algn="l">
              <a:lnSpc>
                <a:spcPct val="14701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99"/>
              <a:buFont typeface="Arial"/>
              <a:buChar char="•"/>
            </a:pPr>
            <a:r>
              <a:rPr b="0" i="0" lang="en-US" sz="32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Detalle del correo + respuesta IA.</a:t>
            </a:r>
            <a:endParaRPr/>
          </a:p>
        </p:txBody>
      </p:sp>
      <p:sp>
        <p:nvSpPr>
          <p:cNvPr id="174" name="Google Shape;174;p8"/>
          <p:cNvSpPr txBox="1"/>
          <p:nvPr/>
        </p:nvSpPr>
        <p:spPr>
          <a:xfrm>
            <a:off x="1802363" y="714375"/>
            <a:ext cx="7341600" cy="29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33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PANTALLA</a:t>
            </a:r>
            <a:r>
              <a:rPr b="1" lang="en-US" sz="8033">
                <a:solidFill>
                  <a:srgbClr val="FFFFFF"/>
                </a:solidFill>
              </a:rPr>
              <a:t> </a:t>
            </a:r>
            <a:r>
              <a:rPr b="1" i="0" lang="en-US" sz="8033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PRINCIPAL</a:t>
            </a:r>
            <a:endParaRPr/>
          </a:p>
        </p:txBody>
      </p:sp>
      <p:pic>
        <p:nvPicPr>
          <p:cNvPr id="175" name="Google Shape;175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44000" y="1767712"/>
            <a:ext cx="8480774" cy="6751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54238" r="-48786" t="-103020"/>
            </a:stretch>
          </a:blipFill>
          <a:ln>
            <a:noFill/>
          </a:ln>
        </p:spPr>
      </p:sp>
      <p:grpSp>
        <p:nvGrpSpPr>
          <p:cNvPr id="181" name="Google Shape;181;p9"/>
          <p:cNvGrpSpPr/>
          <p:nvPr/>
        </p:nvGrpSpPr>
        <p:grpSpPr>
          <a:xfrm>
            <a:off x="7571377" y="1708831"/>
            <a:ext cx="11640589" cy="2842207"/>
            <a:chOff x="0" y="-38100"/>
            <a:chExt cx="3065834" cy="748565"/>
          </a:xfrm>
        </p:grpSpPr>
        <p:sp>
          <p:nvSpPr>
            <p:cNvPr id="182" name="Google Shape;182;p9"/>
            <p:cNvSpPr/>
            <p:nvPr/>
          </p:nvSpPr>
          <p:spPr>
            <a:xfrm>
              <a:off x="0" y="0"/>
              <a:ext cx="3065834" cy="710465"/>
            </a:xfrm>
            <a:custGeom>
              <a:rect b="b" l="l" r="r" t="t"/>
              <a:pathLst>
                <a:path extrusionOk="0" h="710465" w="3065834">
                  <a:moveTo>
                    <a:pt x="0" y="0"/>
                  </a:moveTo>
                  <a:lnTo>
                    <a:pt x="3065834" y="0"/>
                  </a:lnTo>
                  <a:lnTo>
                    <a:pt x="3065834" y="710465"/>
                  </a:lnTo>
                  <a:lnTo>
                    <a:pt x="0" y="710465"/>
                  </a:lnTo>
                  <a:close/>
                </a:path>
              </a:pathLst>
            </a:custGeom>
            <a:solidFill>
              <a:srgbClr val="0038A8">
                <a:alpha val="40000"/>
              </a:srgbClr>
            </a:solidFill>
            <a:ln>
              <a:noFill/>
            </a:ln>
          </p:spPr>
        </p:sp>
        <p:sp>
          <p:nvSpPr>
            <p:cNvPr id="183" name="Google Shape;183;p9"/>
            <p:cNvSpPr txBox="1"/>
            <p:nvPr/>
          </p:nvSpPr>
          <p:spPr>
            <a:xfrm>
              <a:off x="0" y="-38100"/>
              <a:ext cx="3065834" cy="7485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4" name="Google Shape;184;p9"/>
          <p:cNvSpPr/>
          <p:nvPr/>
        </p:nvSpPr>
        <p:spPr>
          <a:xfrm>
            <a:off x="744265" y="1346374"/>
            <a:ext cx="5914548" cy="7594252"/>
          </a:xfrm>
          <a:custGeom>
            <a:rect b="b" l="l" r="r" t="t"/>
            <a:pathLst>
              <a:path extrusionOk="0" h="6023675" w="4691352">
                <a:moveTo>
                  <a:pt x="296563" y="0"/>
                </a:moveTo>
                <a:lnTo>
                  <a:pt x="4394789" y="0"/>
                </a:lnTo>
                <a:cubicBezTo>
                  <a:pt x="4558576" y="0"/>
                  <a:pt x="4691352" y="132776"/>
                  <a:pt x="4691352" y="296563"/>
                </a:cubicBezTo>
                <a:lnTo>
                  <a:pt x="4691352" y="5727112"/>
                </a:lnTo>
                <a:cubicBezTo>
                  <a:pt x="4691352" y="5890899"/>
                  <a:pt x="4558576" y="6023675"/>
                  <a:pt x="4394789" y="6023675"/>
                </a:cubicBezTo>
                <a:lnTo>
                  <a:pt x="296563" y="6023675"/>
                </a:lnTo>
                <a:cubicBezTo>
                  <a:pt x="132776" y="6023675"/>
                  <a:pt x="0" y="5890899"/>
                  <a:pt x="0" y="5727112"/>
                </a:cubicBezTo>
                <a:lnTo>
                  <a:pt x="0" y="296563"/>
                </a:lnTo>
                <a:cubicBezTo>
                  <a:pt x="0" y="132776"/>
                  <a:pt x="132776" y="0"/>
                  <a:pt x="296563" y="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46356" r="-46354" t="0"/>
            </a:stretch>
          </a:blipFill>
          <a:ln cap="rnd" cmpd="sng" w="1047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9"/>
          <p:cNvSpPr txBox="1"/>
          <p:nvPr/>
        </p:nvSpPr>
        <p:spPr>
          <a:xfrm>
            <a:off x="7571377" y="714375"/>
            <a:ext cx="9687923" cy="30157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9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METODOLOGÍA DEL PROYECTO</a:t>
            </a:r>
            <a:endParaRPr/>
          </a:p>
        </p:txBody>
      </p:sp>
      <p:sp>
        <p:nvSpPr>
          <p:cNvPr id="186" name="Google Shape;186;p9"/>
          <p:cNvSpPr txBox="1"/>
          <p:nvPr/>
        </p:nvSpPr>
        <p:spPr>
          <a:xfrm>
            <a:off x="7124926" y="4161970"/>
            <a:ext cx="10134374" cy="4778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17110" lvl="1" marL="834221" marR="0" rtl="0" algn="l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63"/>
              <a:buFont typeface="Arial"/>
              <a:buChar char="•"/>
            </a:pPr>
            <a:r>
              <a:rPr b="1" i="0" lang="en-US" sz="3863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Más organización, menos estrés.</a:t>
            </a:r>
            <a:endParaRPr/>
          </a:p>
          <a:p>
            <a:pPr indent="-417110" lvl="1" marL="834221" marR="0" rtl="0" algn="l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63"/>
              <a:buFont typeface="Arial"/>
              <a:buChar char="•"/>
            </a:pPr>
            <a:r>
              <a:rPr b="1" i="0" lang="en-US" sz="3863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Ahorro de tiempo diario.</a:t>
            </a:r>
            <a:endParaRPr/>
          </a:p>
          <a:p>
            <a:pPr indent="-417110" lvl="1" marL="834221" marR="0" rtl="0" algn="l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63"/>
              <a:buFont typeface="Arial"/>
              <a:buChar char="•"/>
            </a:pPr>
            <a:r>
              <a:rPr b="1" i="0" lang="en-US" sz="3863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Productividad elevada.</a:t>
            </a:r>
            <a:endParaRPr/>
          </a:p>
          <a:p>
            <a:pPr indent="-417110" lvl="1" marL="834221" marR="0" rtl="0" algn="l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63"/>
              <a:buFont typeface="Arial"/>
              <a:buChar char="•"/>
            </a:pPr>
            <a:r>
              <a:rPr b="1" i="0" lang="en-US" sz="3863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Centralización de correos importantes.</a:t>
            </a:r>
            <a:endParaRPr/>
          </a:p>
          <a:p>
            <a:pPr indent="-417110" lvl="1" marL="834221" marR="0" rtl="0" algn="l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63"/>
              <a:buFont typeface="Arial"/>
              <a:buChar char="•"/>
            </a:pPr>
            <a:r>
              <a:rPr b="1" i="0" lang="en-US" sz="3863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Herramienta útil para estudiantes y trabajadores.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54238" r="-48786" t="-103020"/>
            </a:stretch>
          </a:blipFill>
          <a:ln>
            <a:noFill/>
          </a:ln>
        </p:spPr>
      </p:sp>
      <p:grpSp>
        <p:nvGrpSpPr>
          <p:cNvPr id="192" name="Google Shape;192;p10"/>
          <p:cNvGrpSpPr/>
          <p:nvPr/>
        </p:nvGrpSpPr>
        <p:grpSpPr>
          <a:xfrm>
            <a:off x="9831385" y="-795861"/>
            <a:ext cx="7427915" cy="11734061"/>
            <a:chOff x="0" y="-38100"/>
            <a:chExt cx="1956323" cy="3090452"/>
          </a:xfrm>
        </p:grpSpPr>
        <p:sp>
          <p:nvSpPr>
            <p:cNvPr id="193" name="Google Shape;193;p10"/>
            <p:cNvSpPr/>
            <p:nvPr/>
          </p:nvSpPr>
          <p:spPr>
            <a:xfrm>
              <a:off x="0" y="0"/>
              <a:ext cx="1956323" cy="3052352"/>
            </a:xfrm>
            <a:custGeom>
              <a:rect b="b" l="l" r="r" t="t"/>
              <a:pathLst>
                <a:path extrusionOk="0" h="3052352" w="1956323">
                  <a:moveTo>
                    <a:pt x="0" y="0"/>
                  </a:moveTo>
                  <a:lnTo>
                    <a:pt x="1956323" y="0"/>
                  </a:lnTo>
                  <a:lnTo>
                    <a:pt x="1956323" y="3052352"/>
                  </a:lnTo>
                  <a:lnTo>
                    <a:pt x="0" y="3052352"/>
                  </a:lnTo>
                  <a:close/>
                </a:path>
              </a:pathLst>
            </a:custGeom>
            <a:solidFill>
              <a:srgbClr val="0038A8">
                <a:alpha val="40000"/>
              </a:srgbClr>
            </a:solidFill>
            <a:ln>
              <a:noFill/>
            </a:ln>
          </p:spPr>
        </p:sp>
        <p:sp>
          <p:nvSpPr>
            <p:cNvPr id="194" name="Google Shape;194;p10"/>
            <p:cNvSpPr txBox="1"/>
            <p:nvPr/>
          </p:nvSpPr>
          <p:spPr>
            <a:xfrm>
              <a:off x="0" y="-38100"/>
              <a:ext cx="1956323" cy="30904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95" name="Google Shape;195;p10"/>
          <p:cNvCxnSpPr/>
          <p:nvPr/>
        </p:nvCxnSpPr>
        <p:spPr>
          <a:xfrm rot="10800000">
            <a:off x="-3205820" y="2353098"/>
            <a:ext cx="12349820" cy="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6" name="Google Shape;196;p10"/>
          <p:cNvSpPr/>
          <p:nvPr/>
        </p:nvSpPr>
        <p:spPr>
          <a:xfrm>
            <a:off x="10357174" y="1681374"/>
            <a:ext cx="7044343" cy="7044343"/>
          </a:xfrm>
          <a:custGeom>
            <a:rect b="b" l="l" r="r" t="t"/>
            <a:pathLst>
              <a:path extrusionOk="0" h="7044343" w="7044343">
                <a:moveTo>
                  <a:pt x="0" y="0"/>
                </a:moveTo>
                <a:lnTo>
                  <a:pt x="7044344" y="0"/>
                </a:lnTo>
                <a:lnTo>
                  <a:pt x="7044344" y="7044343"/>
                </a:lnTo>
                <a:lnTo>
                  <a:pt x="0" y="70443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7" name="Google Shape;197;p10"/>
          <p:cNvSpPr txBox="1"/>
          <p:nvPr/>
        </p:nvSpPr>
        <p:spPr>
          <a:xfrm>
            <a:off x="760383" y="3347083"/>
            <a:ext cx="8115300" cy="59112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31794" lvl="1" marL="863588" marR="0" rtl="0" algn="l">
              <a:lnSpc>
                <a:spcPct val="14701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99"/>
              <a:buFont typeface="Arial"/>
              <a:buChar char="•"/>
            </a:pPr>
            <a:r>
              <a:rPr b="0" i="0" lang="en-US" sz="39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 herramienta resuelve un problema real.</a:t>
            </a:r>
            <a:endParaRPr/>
          </a:p>
          <a:p>
            <a:pPr indent="0" lvl="0" marL="0" marR="0" rtl="0" algn="l">
              <a:lnSpc>
                <a:spcPct val="147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99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794" lvl="1" marL="863588" marR="0" rtl="0" algn="l">
              <a:lnSpc>
                <a:spcPct val="14701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99"/>
              <a:buFont typeface="Arial"/>
              <a:buChar char="•"/>
            </a:pPr>
            <a:r>
              <a:rPr b="0" i="0" lang="en-US" sz="39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Facilita la organización digital y el manejo de correos.</a:t>
            </a:r>
            <a:endParaRPr/>
          </a:p>
          <a:p>
            <a:pPr indent="0" lvl="0" marL="0" marR="0" rtl="0" algn="l">
              <a:lnSpc>
                <a:spcPct val="147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99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794" lvl="1" marL="863588" marR="0" rtl="0" algn="l">
              <a:lnSpc>
                <a:spcPct val="14701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99"/>
              <a:buFont typeface="Arial"/>
              <a:buChar char="•"/>
            </a:pPr>
            <a:r>
              <a:rPr b="0" i="0" lang="en-US" sz="39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Proyecto escalable a empresas y profesionales.</a:t>
            </a:r>
            <a:endParaRPr/>
          </a:p>
        </p:txBody>
      </p:sp>
      <p:sp>
        <p:nvSpPr>
          <p:cNvPr id="198" name="Google Shape;198;p10"/>
          <p:cNvSpPr txBox="1"/>
          <p:nvPr/>
        </p:nvSpPr>
        <p:spPr>
          <a:xfrm>
            <a:off x="1028700" y="704850"/>
            <a:ext cx="8115300" cy="16291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33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CONCLUSIONES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54238" r="-48786" t="-103020"/>
            </a:stretch>
          </a:blipFill>
          <a:ln>
            <a:noFill/>
          </a:ln>
        </p:spPr>
      </p:sp>
      <p:grpSp>
        <p:nvGrpSpPr>
          <p:cNvPr id="204" name="Google Shape;204;p11"/>
          <p:cNvGrpSpPr/>
          <p:nvPr/>
        </p:nvGrpSpPr>
        <p:grpSpPr>
          <a:xfrm>
            <a:off x="-1130605" y="2990146"/>
            <a:ext cx="21006411" cy="7600547"/>
            <a:chOff x="0" y="-28575"/>
            <a:chExt cx="5532553" cy="2001790"/>
          </a:xfrm>
        </p:grpSpPr>
        <p:sp>
          <p:nvSpPr>
            <p:cNvPr id="205" name="Google Shape;205;p11"/>
            <p:cNvSpPr/>
            <p:nvPr/>
          </p:nvSpPr>
          <p:spPr>
            <a:xfrm>
              <a:off x="0" y="0"/>
              <a:ext cx="5532553" cy="1973215"/>
            </a:xfrm>
            <a:custGeom>
              <a:rect b="b" l="l" r="r" t="t"/>
              <a:pathLst>
                <a:path extrusionOk="0" h="1973215" w="5532553">
                  <a:moveTo>
                    <a:pt x="0" y="0"/>
                  </a:moveTo>
                  <a:lnTo>
                    <a:pt x="5532553" y="0"/>
                  </a:lnTo>
                  <a:lnTo>
                    <a:pt x="5532553" y="1973215"/>
                  </a:lnTo>
                  <a:lnTo>
                    <a:pt x="0" y="1973215"/>
                  </a:lnTo>
                  <a:close/>
                </a:path>
              </a:pathLst>
            </a:custGeom>
            <a:solidFill>
              <a:srgbClr val="0038A8">
                <a:alpha val="43921"/>
              </a:srgbClr>
            </a:solidFill>
            <a:ln>
              <a:noFill/>
            </a:ln>
          </p:spPr>
        </p:sp>
        <p:sp>
          <p:nvSpPr>
            <p:cNvPr id="206" name="Google Shape;206;p11"/>
            <p:cNvSpPr txBox="1"/>
            <p:nvPr/>
          </p:nvSpPr>
          <p:spPr>
            <a:xfrm>
              <a:off x="0" y="-28575"/>
              <a:ext cx="5532553" cy="20017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3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07" name="Google Shape;207;p11"/>
          <p:cNvCxnSpPr/>
          <p:nvPr/>
        </p:nvCxnSpPr>
        <p:spPr>
          <a:xfrm rot="10800000">
            <a:off x="7525985" y="3860571"/>
            <a:ext cx="12349820" cy="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8" name="Google Shape;208;p11"/>
          <p:cNvSpPr/>
          <p:nvPr/>
        </p:nvSpPr>
        <p:spPr>
          <a:xfrm>
            <a:off x="625750" y="1028700"/>
            <a:ext cx="6900235" cy="8229599"/>
          </a:xfrm>
          <a:custGeom>
            <a:rect b="b" l="l" r="r" t="t"/>
            <a:pathLst>
              <a:path extrusionOk="0" h="6625303" w="5555088">
                <a:moveTo>
                  <a:pt x="254199" y="0"/>
                </a:moveTo>
                <a:lnTo>
                  <a:pt x="5300888" y="0"/>
                </a:lnTo>
                <a:cubicBezTo>
                  <a:pt x="5441279" y="0"/>
                  <a:pt x="5555088" y="113809"/>
                  <a:pt x="5555088" y="254199"/>
                </a:cubicBezTo>
                <a:lnTo>
                  <a:pt x="5555088" y="6371104"/>
                </a:lnTo>
                <a:cubicBezTo>
                  <a:pt x="5555088" y="6438522"/>
                  <a:pt x="5528306" y="6503178"/>
                  <a:pt x="5480635" y="6550850"/>
                </a:cubicBezTo>
                <a:cubicBezTo>
                  <a:pt x="5432963" y="6598522"/>
                  <a:pt x="5368306" y="6625303"/>
                  <a:pt x="5300888" y="6625303"/>
                </a:cubicBezTo>
                <a:lnTo>
                  <a:pt x="254199" y="6625303"/>
                </a:lnTo>
                <a:cubicBezTo>
                  <a:pt x="113809" y="6625303"/>
                  <a:pt x="0" y="6511494"/>
                  <a:pt x="0" y="6371104"/>
                </a:cubicBezTo>
                <a:lnTo>
                  <a:pt x="0" y="254199"/>
                </a:lnTo>
                <a:cubicBezTo>
                  <a:pt x="0" y="186782"/>
                  <a:pt x="26782" y="122125"/>
                  <a:pt x="74453" y="74453"/>
                </a:cubicBezTo>
                <a:cubicBezTo>
                  <a:pt x="122125" y="26782"/>
                  <a:pt x="186782" y="0"/>
                  <a:pt x="254199" y="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9631" r="-9631" t="0"/>
            </a:stretch>
          </a:blipFill>
          <a:ln cap="rnd" cmpd="sng" w="1047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1"/>
          <p:cNvSpPr txBox="1"/>
          <p:nvPr/>
        </p:nvSpPr>
        <p:spPr>
          <a:xfrm>
            <a:off x="8047450" y="714375"/>
            <a:ext cx="9211850" cy="29639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33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FUTURO DEL PROYECTO</a:t>
            </a:r>
            <a:endParaRPr/>
          </a:p>
        </p:txBody>
      </p:sp>
      <p:sp>
        <p:nvSpPr>
          <p:cNvPr id="210" name="Google Shape;210;p11"/>
          <p:cNvSpPr txBox="1"/>
          <p:nvPr/>
        </p:nvSpPr>
        <p:spPr>
          <a:xfrm>
            <a:off x="8047450" y="4284204"/>
            <a:ext cx="9346635" cy="49740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36598" lvl="1" marL="873197" marR="0" rtl="0" algn="l">
              <a:lnSpc>
                <a:spcPct val="14004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43"/>
              <a:buFont typeface="Arial"/>
              <a:buChar char="•"/>
            </a:pPr>
            <a:r>
              <a:rPr b="0" i="0" lang="en-US" sz="4043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Resúmenes automáticos de correos.</a:t>
            </a:r>
            <a:endParaRPr/>
          </a:p>
          <a:p>
            <a:pPr indent="-436598" lvl="1" marL="873197" marR="0" rtl="0" algn="l">
              <a:lnSpc>
                <a:spcPct val="14004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43"/>
              <a:buFont typeface="Arial"/>
              <a:buChar char="•"/>
            </a:pPr>
            <a:r>
              <a:rPr b="0" i="0" lang="en-US" sz="4043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Envío automático de respuestas.</a:t>
            </a:r>
            <a:endParaRPr/>
          </a:p>
          <a:p>
            <a:pPr indent="-436598" lvl="1" marL="873197" marR="0" rtl="0" algn="l">
              <a:lnSpc>
                <a:spcPct val="14004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43"/>
              <a:buFont typeface="Arial"/>
              <a:buChar char="•"/>
            </a:pPr>
            <a:r>
              <a:rPr b="0" i="0" lang="en-US" sz="4043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Panel de analítica.</a:t>
            </a:r>
            <a:endParaRPr/>
          </a:p>
          <a:p>
            <a:pPr indent="-436598" lvl="1" marL="873197" marR="0" rtl="0" algn="l">
              <a:lnSpc>
                <a:spcPct val="14004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43"/>
              <a:buFont typeface="Arial"/>
              <a:buChar char="•"/>
            </a:pPr>
            <a:r>
              <a:rPr b="0" i="0" lang="en-US" sz="4043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Soporte multi-cuentas de correo.</a:t>
            </a:r>
            <a:endParaRPr/>
          </a:p>
          <a:p>
            <a:pPr indent="0" lvl="0" marL="0" marR="0" rtl="0" algn="l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043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54238" r="-48786" t="-103020"/>
            </a:stretch>
          </a:blipFill>
          <a:ln>
            <a:noFill/>
          </a:ln>
        </p:spPr>
      </p:sp>
      <p:grpSp>
        <p:nvGrpSpPr>
          <p:cNvPr id="216" name="Google Shape;216;p12"/>
          <p:cNvGrpSpPr/>
          <p:nvPr/>
        </p:nvGrpSpPr>
        <p:grpSpPr>
          <a:xfrm>
            <a:off x="-2628934" y="2267666"/>
            <a:ext cx="22995018" cy="2875834"/>
            <a:chOff x="0" y="-38100"/>
            <a:chExt cx="5337219" cy="667491"/>
          </a:xfrm>
        </p:grpSpPr>
        <p:sp>
          <p:nvSpPr>
            <p:cNvPr id="217" name="Google Shape;217;p12"/>
            <p:cNvSpPr/>
            <p:nvPr/>
          </p:nvSpPr>
          <p:spPr>
            <a:xfrm>
              <a:off x="0" y="0"/>
              <a:ext cx="5337219" cy="629391"/>
            </a:xfrm>
            <a:custGeom>
              <a:rect b="b" l="l" r="r" t="t"/>
              <a:pathLst>
                <a:path extrusionOk="0" h="629391" w="5337219">
                  <a:moveTo>
                    <a:pt x="0" y="0"/>
                  </a:moveTo>
                  <a:lnTo>
                    <a:pt x="5337219" y="0"/>
                  </a:lnTo>
                  <a:lnTo>
                    <a:pt x="5337219" y="629391"/>
                  </a:lnTo>
                  <a:lnTo>
                    <a:pt x="0" y="629391"/>
                  </a:lnTo>
                  <a:close/>
                </a:path>
              </a:pathLst>
            </a:custGeom>
            <a:solidFill>
              <a:srgbClr val="0038A8">
                <a:alpha val="40000"/>
              </a:srgbClr>
            </a:solidFill>
            <a:ln>
              <a:noFill/>
            </a:ln>
          </p:spPr>
        </p:sp>
        <p:sp>
          <p:nvSpPr>
            <p:cNvPr id="218" name="Google Shape;218;p12"/>
            <p:cNvSpPr txBox="1"/>
            <p:nvPr/>
          </p:nvSpPr>
          <p:spPr>
            <a:xfrm>
              <a:off x="0" y="-38100"/>
              <a:ext cx="5337219" cy="6674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9" name="Google Shape;219;p12"/>
          <p:cNvGrpSpPr/>
          <p:nvPr/>
        </p:nvGrpSpPr>
        <p:grpSpPr>
          <a:xfrm>
            <a:off x="2222595" y="4054436"/>
            <a:ext cx="13842811" cy="1256488"/>
            <a:chOff x="0" y="-38100"/>
            <a:chExt cx="3212962" cy="291635"/>
          </a:xfrm>
        </p:grpSpPr>
        <p:sp>
          <p:nvSpPr>
            <p:cNvPr id="220" name="Google Shape;220;p12"/>
            <p:cNvSpPr/>
            <p:nvPr/>
          </p:nvSpPr>
          <p:spPr>
            <a:xfrm>
              <a:off x="0" y="0"/>
              <a:ext cx="3212962" cy="253535"/>
            </a:xfrm>
            <a:custGeom>
              <a:rect b="b" l="l" r="r" t="t"/>
              <a:pathLst>
                <a:path extrusionOk="0" h="253535" w="3212962">
                  <a:moveTo>
                    <a:pt x="0" y="0"/>
                  </a:moveTo>
                  <a:lnTo>
                    <a:pt x="3212962" y="0"/>
                  </a:lnTo>
                  <a:lnTo>
                    <a:pt x="3212962" y="253535"/>
                  </a:lnTo>
                  <a:lnTo>
                    <a:pt x="0" y="253535"/>
                  </a:lnTo>
                  <a:close/>
                </a:path>
              </a:pathLst>
            </a:custGeom>
            <a:gradFill>
              <a:gsLst>
                <a:gs pos="0">
                  <a:srgbClr val="13429F">
                    <a:alpha val="41960"/>
                  </a:srgbClr>
                </a:gs>
                <a:gs pos="100000">
                  <a:srgbClr val="84BFD8">
                    <a:alpha val="41960"/>
                  </a:srgbClr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221" name="Google Shape;221;p12"/>
            <p:cNvSpPr txBox="1"/>
            <p:nvPr/>
          </p:nvSpPr>
          <p:spPr>
            <a:xfrm>
              <a:off x="0" y="-38100"/>
              <a:ext cx="3212962" cy="2916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22" name="Google Shape;222;p12"/>
          <p:cNvCxnSpPr/>
          <p:nvPr/>
        </p:nvCxnSpPr>
        <p:spPr>
          <a:xfrm>
            <a:off x="-1346078" y="9405917"/>
            <a:ext cx="21789428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3" name="Google Shape;223;p12"/>
          <p:cNvSpPr/>
          <p:nvPr/>
        </p:nvSpPr>
        <p:spPr>
          <a:xfrm>
            <a:off x="9529355" y="7510398"/>
            <a:ext cx="7729945" cy="1747902"/>
          </a:xfrm>
          <a:custGeom>
            <a:rect b="b" l="l" r="r" t="t"/>
            <a:pathLst>
              <a:path extrusionOk="0" h="1747902" w="7729945">
                <a:moveTo>
                  <a:pt x="0" y="0"/>
                </a:moveTo>
                <a:lnTo>
                  <a:pt x="7729945" y="0"/>
                </a:lnTo>
                <a:lnTo>
                  <a:pt x="7729945" y="1747902"/>
                </a:lnTo>
                <a:lnTo>
                  <a:pt x="0" y="17479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4" name="Google Shape;224;p12"/>
          <p:cNvSpPr txBox="1"/>
          <p:nvPr/>
        </p:nvSpPr>
        <p:spPr>
          <a:xfrm>
            <a:off x="-441336" y="1403420"/>
            <a:ext cx="19170671" cy="2704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103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GRACIAS POR SU</a:t>
            </a:r>
            <a:endParaRPr/>
          </a:p>
        </p:txBody>
      </p:sp>
      <p:sp>
        <p:nvSpPr>
          <p:cNvPr id="225" name="Google Shape;225;p12"/>
          <p:cNvSpPr txBox="1"/>
          <p:nvPr/>
        </p:nvSpPr>
        <p:spPr>
          <a:xfrm>
            <a:off x="4034343" y="3885212"/>
            <a:ext cx="9668464" cy="16460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61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ATENCIÓN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